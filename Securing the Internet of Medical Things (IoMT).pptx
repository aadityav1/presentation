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Figtree"/>
      <p:regular r:id="rId18"/>
      <p:bold r:id="rId19"/>
      <p:italic r:id="rId20"/>
      <p:boldItalic r:id="rId21"/>
    </p:embeddedFont>
    <p:embeddedFont>
      <p:font typeface="Jost Light"/>
      <p:regular r:id="rId22"/>
      <p:bold r:id="rId23"/>
      <p:italic r:id="rId24"/>
      <p:boldItalic r:id="rId25"/>
    </p:embeddedFont>
    <p:embeddedFont>
      <p:font typeface="Figtree Light"/>
      <p:regular r:id="rId26"/>
      <p:bold r:id="rId27"/>
      <p:italic r:id="rId28"/>
      <p:boldItalic r:id="rId29"/>
    </p:embeddedFont>
    <p:embeddedFont>
      <p:font typeface="Jost"/>
      <p:regular r:id="rId30"/>
      <p:bold r:id="rId31"/>
      <p:italic r:id="rId32"/>
      <p:boldItalic r:id="rId33"/>
    </p:embeddedFont>
    <p:embeddedFont>
      <p:font typeface="Urbanis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gtree-italic.fntdata"/><Relationship Id="rId22" Type="http://schemas.openxmlformats.org/officeDocument/2006/relationships/font" Target="fonts/JostLight-regular.fntdata"/><Relationship Id="rId21" Type="http://schemas.openxmlformats.org/officeDocument/2006/relationships/font" Target="fonts/Figtree-boldItalic.fntdata"/><Relationship Id="rId24" Type="http://schemas.openxmlformats.org/officeDocument/2006/relationships/font" Target="fonts/JostLight-italic.fntdata"/><Relationship Id="rId23" Type="http://schemas.openxmlformats.org/officeDocument/2006/relationships/font" Target="fonts/Jost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gtreeLight-regular.fntdata"/><Relationship Id="rId25" Type="http://schemas.openxmlformats.org/officeDocument/2006/relationships/font" Target="fonts/JostLight-boldItalic.fntdata"/><Relationship Id="rId28" Type="http://schemas.openxmlformats.org/officeDocument/2006/relationships/font" Target="fonts/FigtreeLight-italic.fntdata"/><Relationship Id="rId27" Type="http://schemas.openxmlformats.org/officeDocument/2006/relationships/font" Target="fonts/Figtree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gtreeLight-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Jost-bold.fntdata"/><Relationship Id="rId30" Type="http://schemas.openxmlformats.org/officeDocument/2006/relationships/font" Target="fonts/Jost-regular.fntdata"/><Relationship Id="rId11" Type="http://schemas.openxmlformats.org/officeDocument/2006/relationships/slide" Target="slides/slide5.xml"/><Relationship Id="rId33" Type="http://schemas.openxmlformats.org/officeDocument/2006/relationships/font" Target="fonts/Jost-boldItalic.fntdata"/><Relationship Id="rId10" Type="http://schemas.openxmlformats.org/officeDocument/2006/relationships/slide" Target="slides/slide4.xml"/><Relationship Id="rId32" Type="http://schemas.openxmlformats.org/officeDocument/2006/relationships/font" Target="fonts/Jost-italic.fntdata"/><Relationship Id="rId13" Type="http://schemas.openxmlformats.org/officeDocument/2006/relationships/slide" Target="slides/slide7.xml"/><Relationship Id="rId35" Type="http://schemas.openxmlformats.org/officeDocument/2006/relationships/font" Target="fonts/Urbanist-bold.fntdata"/><Relationship Id="rId12" Type="http://schemas.openxmlformats.org/officeDocument/2006/relationships/slide" Target="slides/slide6.xml"/><Relationship Id="rId34" Type="http://schemas.openxmlformats.org/officeDocument/2006/relationships/font" Target="fonts/Urbanist-regular.fntdata"/><Relationship Id="rId15" Type="http://schemas.openxmlformats.org/officeDocument/2006/relationships/slide" Target="slides/slide9.xml"/><Relationship Id="rId37" Type="http://schemas.openxmlformats.org/officeDocument/2006/relationships/font" Target="fonts/Urbanist-boldItalic.fntdata"/><Relationship Id="rId14" Type="http://schemas.openxmlformats.org/officeDocument/2006/relationships/slide" Target="slides/slide8.xml"/><Relationship Id="rId36" Type="http://schemas.openxmlformats.org/officeDocument/2006/relationships/font" Target="fonts/Urbanist-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Figtree-bold.fntdata"/><Relationship Id="rId18" Type="http://schemas.openxmlformats.org/officeDocument/2006/relationships/font" Target="fonts/Figtre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538a49e3929fbc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h538a49e3929fbc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h538a49e3929fbc6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h538a49e3929fbc6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h538a49e3929fbc6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h538a49e3929fbc6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h538a49e3929fbc6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h538a49e3929fbc6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h538a49e3929fbc65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h538a49e3929fbc6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538a49e3929fbc6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h538a49e3929fbc6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h538a49e3929fbc6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h538a49e3929fbc6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h538a49e3929fbc6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h538a49e3929fbc65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h538a49e3929fbc6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h538a49e3929fbc6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h538a49e3929fbc65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h538a49e3929fbc65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538a49e3929fbc65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h538a49e3929fbc65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55" name="Shape 55"/>
        <p:cNvGrpSpPr/>
        <p:nvPr/>
      </p:nvGrpSpPr>
      <p:grpSpPr>
        <a:xfrm>
          <a:off x="0" y="0"/>
          <a:ext cx="0" cy="0"/>
          <a:chOff x="0" y="0"/>
          <a:chExt cx="0" cy="0"/>
        </a:xfrm>
      </p:grpSpPr>
      <p:pic>
        <p:nvPicPr>
          <p:cNvPr id="56" name="Google Shape;56;p14"/>
          <p:cNvPicPr preferRelativeResize="0"/>
          <p:nvPr/>
        </p:nvPicPr>
        <p:blipFill>
          <a:blip r:embed="rId2">
            <a:alphaModFix/>
          </a:blip>
          <a:stretch>
            <a:fillRect/>
          </a:stretch>
        </p:blipFill>
        <p:spPr>
          <a:xfrm>
            <a:off x="0" y="0"/>
            <a:ext cx="9144003" cy="5143501"/>
          </a:xfrm>
          <a:prstGeom prst="rect">
            <a:avLst/>
          </a:prstGeom>
          <a:noFill/>
          <a:ln>
            <a:noFill/>
          </a:ln>
        </p:spPr>
      </p:pic>
      <p:sp>
        <p:nvSpPr>
          <p:cNvPr id="57" name="Google Shape;57;p14"/>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8" name="Google Shape;58;p14"/>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59" name="Google Shape;59;p14"/>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60" name="Google Shape;60;p14"/>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61" name="Shape 61"/>
        <p:cNvGrpSpPr/>
        <p:nvPr/>
      </p:nvGrpSpPr>
      <p:grpSpPr>
        <a:xfrm>
          <a:off x="0" y="0"/>
          <a:ext cx="0" cy="0"/>
          <a:chOff x="0" y="0"/>
          <a:chExt cx="0" cy="0"/>
        </a:xfrm>
      </p:grpSpPr>
      <p:sp>
        <p:nvSpPr>
          <p:cNvPr id="62" name="Google Shape;62;p15"/>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3" name="Google Shape;63;p15"/>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4" name="Google Shape;64;p15"/>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5" name="Google Shape;65;p15"/>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66" name="Google Shape;66;p15"/>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7" name="Google Shape;67;p15"/>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8" name="Google Shape;68;p15"/>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9" name="Google Shape;69;p15"/>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0" name="Google Shape;70;p15"/>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1" name="Google Shape;71;p15"/>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2" name="Google Shape;72;p15"/>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3" name="Google Shape;73;p15"/>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74" name="Google Shape;74;p15"/>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5" name="Google Shape;75;p15"/>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6" name="Google Shape;76;p15"/>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7" name="Google Shape;77;p15"/>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8" name="Google Shape;78;p15"/>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79" name="Shape 79"/>
        <p:cNvGrpSpPr/>
        <p:nvPr/>
      </p:nvGrpSpPr>
      <p:grpSpPr>
        <a:xfrm>
          <a:off x="0" y="0"/>
          <a:ext cx="0" cy="0"/>
          <a:chOff x="0" y="0"/>
          <a:chExt cx="0" cy="0"/>
        </a:xfrm>
      </p:grpSpPr>
      <p:sp>
        <p:nvSpPr>
          <p:cNvPr id="80" name="Google Shape;80;p16"/>
          <p:cNvSpPr/>
          <p:nvPr>
            <p:ph idx="2" type="pic"/>
          </p:nvPr>
        </p:nvSpPr>
        <p:spPr>
          <a:xfrm>
            <a:off x="0" y="-9000"/>
            <a:ext cx="3054300" cy="3252900"/>
          </a:xfrm>
          <a:prstGeom prst="rect">
            <a:avLst/>
          </a:prstGeom>
          <a:noFill/>
          <a:ln>
            <a:noFill/>
          </a:ln>
        </p:spPr>
      </p:sp>
      <p:sp>
        <p:nvSpPr>
          <p:cNvPr id="81" name="Google Shape;81;p16"/>
          <p:cNvSpPr/>
          <p:nvPr>
            <p:ph idx="3" type="pic"/>
          </p:nvPr>
        </p:nvSpPr>
        <p:spPr>
          <a:xfrm>
            <a:off x="3044117" y="-9000"/>
            <a:ext cx="3054300" cy="3252900"/>
          </a:xfrm>
          <a:prstGeom prst="rect">
            <a:avLst/>
          </a:prstGeom>
          <a:noFill/>
          <a:ln>
            <a:noFill/>
          </a:ln>
        </p:spPr>
      </p:sp>
      <p:sp>
        <p:nvSpPr>
          <p:cNvPr id="82" name="Google Shape;82;p16"/>
          <p:cNvSpPr/>
          <p:nvPr>
            <p:ph idx="4" type="pic"/>
          </p:nvPr>
        </p:nvSpPr>
        <p:spPr>
          <a:xfrm>
            <a:off x="6088233" y="-9000"/>
            <a:ext cx="3054300" cy="3252900"/>
          </a:xfrm>
          <a:prstGeom prst="rect">
            <a:avLst/>
          </a:prstGeom>
          <a:noFill/>
          <a:ln>
            <a:noFill/>
          </a:ln>
        </p:spPr>
      </p:sp>
      <p:sp>
        <p:nvSpPr>
          <p:cNvPr id="83" name="Google Shape;83;p16"/>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4" name="Google Shape;84;p16"/>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5" name="Google Shape;85;p16"/>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6" name="Google Shape;86;p16"/>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87" name="Google Shape;87;p16"/>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8" name="Google Shape;88;p16"/>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9" name="Google Shape;89;p16"/>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0" name="Google Shape;90;p16"/>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1" name="Google Shape;91;p16"/>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92" name="Shape 92"/>
        <p:cNvGrpSpPr/>
        <p:nvPr/>
      </p:nvGrpSpPr>
      <p:grpSpPr>
        <a:xfrm>
          <a:off x="0" y="0"/>
          <a:ext cx="0" cy="0"/>
          <a:chOff x="0" y="0"/>
          <a:chExt cx="0" cy="0"/>
        </a:xfrm>
      </p:grpSpPr>
      <p:sp>
        <p:nvSpPr>
          <p:cNvPr id="93" name="Google Shape;93;p17"/>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94" name="Google Shape;94;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5" name="Google Shape;95;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6" name="Google Shape;96;p17"/>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7" name="Google Shape;97;p17"/>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8" name="Google Shape;98;p17"/>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99" name="Google Shape;99;p17"/>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0" name="Google Shape;100;p17"/>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101" name="Google Shape;101;p17"/>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2" name="Google Shape;102;p17"/>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3" name="Google Shape;103;p17"/>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4" name="Google Shape;104;p17"/>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5" name="Google Shape;105;p17"/>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6" name="Google Shape;106;p17"/>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7" name="Google Shape;107;p17"/>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8" name="Google Shape;108;p17"/>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9" name="Google Shape;109;p17"/>
          <p:cNvSpPr/>
          <p:nvPr>
            <p:ph idx="19" type="pic"/>
          </p:nvPr>
        </p:nvSpPr>
        <p:spPr>
          <a:xfrm>
            <a:off x="1726022" y="1991825"/>
            <a:ext cx="1288500" cy="1363800"/>
          </a:xfrm>
          <a:prstGeom prst="roundRect">
            <a:avLst>
              <a:gd fmla="val 6764" name="adj"/>
            </a:avLst>
          </a:prstGeom>
          <a:noFill/>
          <a:ln>
            <a:noFill/>
          </a:ln>
        </p:spPr>
      </p:sp>
      <p:sp>
        <p:nvSpPr>
          <p:cNvPr id="110" name="Google Shape;110;p17"/>
          <p:cNvSpPr/>
          <p:nvPr>
            <p:ph idx="20" type="pic"/>
          </p:nvPr>
        </p:nvSpPr>
        <p:spPr>
          <a:xfrm>
            <a:off x="3194345" y="1991825"/>
            <a:ext cx="1288500" cy="1363800"/>
          </a:xfrm>
          <a:prstGeom prst="roundRect">
            <a:avLst>
              <a:gd fmla="val 6764" name="adj"/>
            </a:avLst>
          </a:prstGeom>
          <a:noFill/>
          <a:ln>
            <a:noFill/>
          </a:ln>
        </p:spPr>
      </p:sp>
      <p:sp>
        <p:nvSpPr>
          <p:cNvPr id="111" name="Google Shape;111;p17"/>
          <p:cNvSpPr/>
          <p:nvPr>
            <p:ph idx="21" type="pic"/>
          </p:nvPr>
        </p:nvSpPr>
        <p:spPr>
          <a:xfrm>
            <a:off x="4662668" y="1991825"/>
            <a:ext cx="1288500" cy="1363800"/>
          </a:xfrm>
          <a:prstGeom prst="roundRect">
            <a:avLst>
              <a:gd fmla="val 6764" name="adj"/>
            </a:avLst>
          </a:prstGeom>
          <a:noFill/>
          <a:ln>
            <a:noFill/>
          </a:ln>
        </p:spPr>
      </p:sp>
      <p:sp>
        <p:nvSpPr>
          <p:cNvPr id="112" name="Google Shape;112;p17"/>
          <p:cNvSpPr/>
          <p:nvPr>
            <p:ph idx="22" type="pic"/>
          </p:nvPr>
        </p:nvSpPr>
        <p:spPr>
          <a:xfrm>
            <a:off x="6130990" y="1991825"/>
            <a:ext cx="1288500" cy="1363800"/>
          </a:xfrm>
          <a:prstGeom prst="roundRect">
            <a:avLst>
              <a:gd fmla="val 6764" name="adj"/>
            </a:avLst>
          </a:prstGeom>
          <a:noFill/>
          <a:ln>
            <a:noFill/>
          </a:ln>
        </p:spPr>
      </p:sp>
      <p:sp>
        <p:nvSpPr>
          <p:cNvPr id="113" name="Google Shape;113;p17"/>
          <p:cNvSpPr/>
          <p:nvPr>
            <p:ph idx="23" type="pic"/>
          </p:nvPr>
        </p:nvSpPr>
        <p:spPr>
          <a:xfrm>
            <a:off x="7599313" y="1991825"/>
            <a:ext cx="1288500" cy="1363800"/>
          </a:xfrm>
          <a:prstGeom prst="roundRect">
            <a:avLst>
              <a:gd fmla="val 6764" name="adj"/>
            </a:avLst>
          </a:prstGeom>
          <a:noFill/>
          <a:ln>
            <a:noFill/>
          </a:ln>
        </p:spPr>
      </p:sp>
      <p:sp>
        <p:nvSpPr>
          <p:cNvPr id="114" name="Google Shape;114;p17"/>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115" name="Shape 115"/>
        <p:cNvGrpSpPr/>
        <p:nvPr/>
      </p:nvGrpSpPr>
      <p:grpSpPr>
        <a:xfrm>
          <a:off x="0" y="0"/>
          <a:ext cx="0" cy="0"/>
          <a:chOff x="0" y="0"/>
          <a:chExt cx="0" cy="0"/>
        </a:xfrm>
      </p:grpSpPr>
      <p:sp>
        <p:nvSpPr>
          <p:cNvPr id="116" name="Google Shape;11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7" name="Google Shape;11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8" name="Google Shape;118;p18"/>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119" name="Shape 119"/>
        <p:cNvGrpSpPr/>
        <p:nvPr/>
      </p:nvGrpSpPr>
      <p:grpSpPr>
        <a:xfrm>
          <a:off x="0" y="0"/>
          <a:ext cx="0" cy="0"/>
          <a:chOff x="0" y="0"/>
          <a:chExt cx="0" cy="0"/>
        </a:xfrm>
      </p:grpSpPr>
      <p:sp>
        <p:nvSpPr>
          <p:cNvPr id="120" name="Google Shape;120;p19"/>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1" name="Google Shape;121;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22" name="Google Shape;122;p19"/>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123" name="Google Shape;123;p19"/>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124" name="Google Shape;124;p19"/>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125" name="Google Shape;125;p19"/>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126" name="Shape 126"/>
        <p:cNvGrpSpPr/>
        <p:nvPr/>
      </p:nvGrpSpPr>
      <p:grpSpPr>
        <a:xfrm>
          <a:off x="0" y="0"/>
          <a:ext cx="0" cy="0"/>
          <a:chOff x="0" y="0"/>
          <a:chExt cx="0" cy="0"/>
        </a:xfrm>
      </p:grpSpPr>
      <p:sp>
        <p:nvSpPr>
          <p:cNvPr id="127" name="Google Shape;127;p2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8" name="Google Shape;128;p20"/>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9" name="Google Shape;129;p20"/>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30" name="Google Shape;130;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1" name="Google Shape;131;p2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2" name="Google Shape;132;p20"/>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33" name="Google Shape;133;p20"/>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34" name="Google Shape;134;p20"/>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5" name="Google Shape;135;p20"/>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136" name="Shape 136"/>
        <p:cNvGrpSpPr/>
        <p:nvPr/>
      </p:nvGrpSpPr>
      <p:grpSpPr>
        <a:xfrm>
          <a:off x="0" y="0"/>
          <a:ext cx="0" cy="0"/>
          <a:chOff x="0" y="0"/>
          <a:chExt cx="0" cy="0"/>
        </a:xfrm>
      </p:grpSpPr>
      <p:sp>
        <p:nvSpPr>
          <p:cNvPr id="137" name="Google Shape;137;p21"/>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8" name="Google Shape;138;p21"/>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9" name="Google Shape;139;p21"/>
          <p:cNvSpPr/>
          <p:nvPr>
            <p:ph idx="2" type="pic"/>
          </p:nvPr>
        </p:nvSpPr>
        <p:spPr>
          <a:xfrm>
            <a:off x="0" y="-9000"/>
            <a:ext cx="3054300" cy="3252900"/>
          </a:xfrm>
          <a:prstGeom prst="rect">
            <a:avLst/>
          </a:prstGeom>
          <a:noFill/>
          <a:ln>
            <a:noFill/>
          </a:ln>
        </p:spPr>
      </p:sp>
      <p:sp>
        <p:nvSpPr>
          <p:cNvPr id="140" name="Google Shape;140;p21"/>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41" name="Google Shape;141;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2" name="Google Shape;142;p21"/>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3" name="Google Shape;143;p21"/>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4" name="Google Shape;144;p21"/>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45" name="Google Shape;145;p21"/>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46" name="Shape 146"/>
        <p:cNvGrpSpPr/>
        <p:nvPr/>
      </p:nvGrpSpPr>
      <p:grpSpPr>
        <a:xfrm>
          <a:off x="0" y="0"/>
          <a:ext cx="0" cy="0"/>
          <a:chOff x="0" y="0"/>
          <a:chExt cx="0" cy="0"/>
        </a:xfrm>
      </p:grpSpPr>
      <p:sp>
        <p:nvSpPr>
          <p:cNvPr id="147" name="Google Shape;147;p22"/>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8" name="Google Shape;148;p22"/>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9" name="Google Shape;149;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0" name="Google Shape;150;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1" name="Google Shape;151;p22"/>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52" name="Google Shape;152;p22"/>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3" name="Google Shape;153;p22"/>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4" name="Google Shape;154;p22"/>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55" name="Shape 155"/>
        <p:cNvGrpSpPr/>
        <p:nvPr/>
      </p:nvGrpSpPr>
      <p:grpSpPr>
        <a:xfrm>
          <a:off x="0" y="0"/>
          <a:ext cx="0" cy="0"/>
          <a:chOff x="0" y="0"/>
          <a:chExt cx="0" cy="0"/>
        </a:xfrm>
      </p:grpSpPr>
      <p:sp>
        <p:nvSpPr>
          <p:cNvPr id="156" name="Google Shape;156;p23"/>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7" name="Google Shape;157;p23"/>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8" name="Google Shape;158;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9" name="Google Shape;159;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60" name="Google Shape;160;p23"/>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61" name="Google Shape;161;p23"/>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62" name="Shape 162"/>
        <p:cNvGrpSpPr/>
        <p:nvPr/>
      </p:nvGrpSpPr>
      <p:grpSpPr>
        <a:xfrm>
          <a:off x="0" y="0"/>
          <a:ext cx="0" cy="0"/>
          <a:chOff x="0" y="0"/>
          <a:chExt cx="0" cy="0"/>
        </a:xfrm>
      </p:grpSpPr>
      <p:sp>
        <p:nvSpPr>
          <p:cNvPr id="163" name="Google Shape;163;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4" name="Google Shape;164;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5" name="Google Shape;165;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66" name="Google Shape;166;p24"/>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7" name="Google Shape;167;p24"/>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8" name="Google Shape;168;p24"/>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9" name="Google Shape;169;p24"/>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0" name="Google Shape;170;p24"/>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1" name="Google Shape;171;p24"/>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2" name="Google Shape;172;p24"/>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3" name="Google Shape;173;p24"/>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4" name="Google Shape;174;p24"/>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5" name="Google Shape;175;p24"/>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76" name="Shape 176"/>
        <p:cNvGrpSpPr/>
        <p:nvPr/>
      </p:nvGrpSpPr>
      <p:grpSpPr>
        <a:xfrm>
          <a:off x="0" y="0"/>
          <a:ext cx="0" cy="0"/>
          <a:chOff x="0" y="0"/>
          <a:chExt cx="0" cy="0"/>
        </a:xfrm>
      </p:grpSpPr>
      <p:sp>
        <p:nvSpPr>
          <p:cNvPr id="177" name="Google Shape;177;p25"/>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8" name="Google Shape;178;p25"/>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25"/>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0" name="Google Shape;180;p25"/>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1" name="Google Shape;181;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25"/>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3" name="Google Shape;183;p25"/>
          <p:cNvSpPr/>
          <p:nvPr>
            <p:ph idx="4" type="pic"/>
          </p:nvPr>
        </p:nvSpPr>
        <p:spPr>
          <a:xfrm>
            <a:off x="230075" y="457200"/>
            <a:ext cx="3681600" cy="2309700"/>
          </a:xfrm>
          <a:prstGeom prst="rect">
            <a:avLst/>
          </a:prstGeom>
          <a:noFill/>
          <a:ln>
            <a:noFill/>
          </a:ln>
        </p:spPr>
      </p:sp>
      <p:sp>
        <p:nvSpPr>
          <p:cNvPr id="184" name="Google Shape;184;p25"/>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5" name="Google Shape;185;p25"/>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6" name="Google Shape;186;p25"/>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25"/>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25"/>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9" name="Google Shape;189;p25"/>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90" name="Shape 190"/>
        <p:cNvGrpSpPr/>
        <p:nvPr/>
      </p:nvGrpSpPr>
      <p:grpSpPr>
        <a:xfrm>
          <a:off x="0" y="0"/>
          <a:ext cx="0" cy="0"/>
          <a:chOff x="0" y="0"/>
          <a:chExt cx="0" cy="0"/>
        </a:xfrm>
      </p:grpSpPr>
      <p:sp>
        <p:nvSpPr>
          <p:cNvPr id="191" name="Google Shape;191;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2" name="Google Shape;192;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3" name="Google Shape;193;p2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4" name="Google Shape;194;p26"/>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5" name="Google Shape;195;p26"/>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96" name="Google Shape;196;p26"/>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97" name="Shape 197"/>
        <p:cNvGrpSpPr/>
        <p:nvPr/>
      </p:nvGrpSpPr>
      <p:grpSpPr>
        <a:xfrm>
          <a:off x="0" y="0"/>
          <a:ext cx="0" cy="0"/>
          <a:chOff x="0" y="0"/>
          <a:chExt cx="0" cy="0"/>
        </a:xfrm>
      </p:grpSpPr>
      <p:sp>
        <p:nvSpPr>
          <p:cNvPr id="198" name="Google Shape;198;p2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9" name="Google Shape;199;p2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00" name="Google Shape;200;p27"/>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1" name="Google Shape;201;p27"/>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2" name="Google Shape;202;p27"/>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3" name="Google Shape;203;p27"/>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27"/>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5" name="Google Shape;205;p27"/>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6" name="Google Shape;206;p27"/>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7" name="Google Shape;207;p27"/>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8" name="Google Shape;208;p27"/>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9" name="Google Shape;209;p27"/>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0" name="Google Shape;210;p27"/>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11" name="Google Shape;211;p27"/>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12" name="Google Shape;212;p27"/>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213" name="Shape 213"/>
        <p:cNvGrpSpPr/>
        <p:nvPr/>
      </p:nvGrpSpPr>
      <p:grpSpPr>
        <a:xfrm>
          <a:off x="0" y="0"/>
          <a:ext cx="0" cy="0"/>
          <a:chOff x="0" y="0"/>
          <a:chExt cx="0" cy="0"/>
        </a:xfrm>
      </p:grpSpPr>
      <p:sp>
        <p:nvSpPr>
          <p:cNvPr id="214" name="Google Shape;214;p28"/>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2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6" name="Google Shape;216;p2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7" name="Google Shape;217;p28"/>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18" name="Google Shape;218;p28"/>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9" name="Google Shape;219;p28"/>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0" name="Google Shape;220;p28"/>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1" name="Google Shape;221;p28"/>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222" name="Shape 222"/>
        <p:cNvGrpSpPr/>
        <p:nvPr/>
      </p:nvGrpSpPr>
      <p:grpSpPr>
        <a:xfrm>
          <a:off x="0" y="0"/>
          <a:ext cx="0" cy="0"/>
          <a:chOff x="0" y="0"/>
          <a:chExt cx="0" cy="0"/>
        </a:xfrm>
      </p:grpSpPr>
      <p:sp>
        <p:nvSpPr>
          <p:cNvPr id="223" name="Google Shape;223;p29"/>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24" name="Google Shape;224;p29"/>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225" name="Google Shape;225;p2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6" name="Google Shape;226;p2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7" name="Google Shape;227;p29"/>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28" name="Google Shape;228;p29"/>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9"/>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9"/>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1" name="Google Shape;231;p29"/>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2" name="Google Shape;232;p29"/>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3" name="Google Shape;233;p29"/>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4" name="Google Shape;234;p29"/>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5" name="Google Shape;235;p29"/>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6" name="Google Shape;236;p29"/>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7" name="Google Shape;237;p29"/>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238" name="Google Shape;238;p29"/>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239" name="Shape 239"/>
        <p:cNvGrpSpPr/>
        <p:nvPr/>
      </p:nvGrpSpPr>
      <p:grpSpPr>
        <a:xfrm>
          <a:off x="0" y="0"/>
          <a:ext cx="0" cy="0"/>
          <a:chOff x="0" y="0"/>
          <a:chExt cx="0" cy="0"/>
        </a:xfrm>
      </p:grpSpPr>
      <p:sp>
        <p:nvSpPr>
          <p:cNvPr id="240" name="Google Shape;240;p30"/>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1" name="Google Shape;241;p3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2" name="Google Shape;242;p3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3" name="Google Shape;243;p30"/>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4" name="Google Shape;244;p30"/>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5" name="Google Shape;245;p30"/>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6" name="Google Shape;246;p30"/>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7" name="Google Shape;247;p30"/>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8" name="Google Shape;248;p30"/>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9" name="Google Shape;249;p30"/>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50" name="Google Shape;250;p30"/>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1" name="Google Shape;251;p30"/>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52" name="Shape 252"/>
        <p:cNvGrpSpPr/>
        <p:nvPr/>
      </p:nvGrpSpPr>
      <p:grpSpPr>
        <a:xfrm>
          <a:off x="0" y="0"/>
          <a:ext cx="0" cy="0"/>
          <a:chOff x="0" y="0"/>
          <a:chExt cx="0" cy="0"/>
        </a:xfrm>
      </p:grpSpPr>
      <p:sp>
        <p:nvSpPr>
          <p:cNvPr id="253" name="Google Shape;253;p31"/>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3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3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31"/>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7" name="Google Shape;257;p31"/>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31"/>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9" name="Google Shape;259;p31"/>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60" name="Google Shape;260;p31"/>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1" name="Google Shape;261;p31"/>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2" name="Google Shape;262;p31"/>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3" name="Google Shape;263;p31"/>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4" name="Google Shape;264;p31"/>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5" name="Google Shape;265;p31"/>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66" name="Shape 266"/>
        <p:cNvGrpSpPr/>
        <p:nvPr/>
      </p:nvGrpSpPr>
      <p:grpSpPr>
        <a:xfrm>
          <a:off x="0" y="0"/>
          <a:ext cx="0" cy="0"/>
          <a:chOff x="0" y="0"/>
          <a:chExt cx="0" cy="0"/>
        </a:xfrm>
      </p:grpSpPr>
      <p:sp>
        <p:nvSpPr>
          <p:cNvPr id="267" name="Google Shape;267;p32"/>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68" name="Google Shape;268;p32"/>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69" name="Google Shape;269;p32"/>
          <p:cNvPicPr preferRelativeResize="0"/>
          <p:nvPr/>
        </p:nvPicPr>
        <p:blipFill rotWithShape="1">
          <a:blip r:embed="rId2">
            <a:alphaModFix/>
          </a:blip>
          <a:srcRect b="14407" l="0" r="0" t="14414"/>
          <a:stretch/>
        </p:blipFill>
        <p:spPr>
          <a:xfrm>
            <a:off x="2517525" y="1875150"/>
            <a:ext cx="2822973" cy="1350004"/>
          </a:xfrm>
          <a:prstGeom prst="rect">
            <a:avLst/>
          </a:prstGeom>
          <a:noFill/>
          <a:ln>
            <a:noFill/>
          </a:ln>
        </p:spPr>
      </p:pic>
      <p:sp>
        <p:nvSpPr>
          <p:cNvPr id="270" name="Google Shape;270;p32"/>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1" name="Google Shape;271;p32"/>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2" name="Google Shape;272;p32"/>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3" name="Google Shape;273;p32"/>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4" name="Google Shape;274;p32"/>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5" name="Google Shape;275;p32"/>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6" name="Google Shape;276;p32"/>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7" name="Google Shape;277;p32"/>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8" name="Google Shape;278;p32"/>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9" name="Google Shape;279;p32"/>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0" name="Google Shape;280;p32"/>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1" name="Google Shape;281;p32"/>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82" name="Google Shape;282;p3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3" name="Google Shape;283;p32"/>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4" name="Google Shape;284;p32"/>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85" name="Shape 285"/>
        <p:cNvGrpSpPr/>
        <p:nvPr/>
      </p:nvGrpSpPr>
      <p:grpSpPr>
        <a:xfrm>
          <a:off x="0" y="0"/>
          <a:ext cx="0" cy="0"/>
          <a:chOff x="0" y="0"/>
          <a:chExt cx="0" cy="0"/>
        </a:xfrm>
      </p:grpSpPr>
      <p:sp>
        <p:nvSpPr>
          <p:cNvPr id="286" name="Google Shape;286;p33"/>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87" name="Google Shape;287;p33"/>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88" name="Google Shape;288;p3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89" name="Google Shape;289;p3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0" name="Google Shape;290;p3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1" name="Google Shape;291;p33"/>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2" name="Google Shape;292;p33"/>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3" name="Google Shape;293;p33"/>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4" name="Google Shape;294;p33"/>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5" name="Google Shape;295;p33"/>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6" name="Google Shape;296;p33"/>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97" name="Shape 297"/>
        <p:cNvGrpSpPr/>
        <p:nvPr/>
      </p:nvGrpSpPr>
      <p:grpSpPr>
        <a:xfrm>
          <a:off x="0" y="0"/>
          <a:ext cx="0" cy="0"/>
          <a:chOff x="0" y="0"/>
          <a:chExt cx="0" cy="0"/>
        </a:xfrm>
      </p:grpSpPr>
      <p:sp>
        <p:nvSpPr>
          <p:cNvPr id="298" name="Google Shape;298;p34"/>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9" name="Google Shape;299;p3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0" name="Google Shape;300;p3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1" name="Google Shape;301;p3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02" name="Google Shape;302;p34"/>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303" name="Google Shape;303;p34"/>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4" name="Google Shape;304;p34"/>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5" name="Google Shape;305;p34"/>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6" name="Google Shape;306;p34"/>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7" name="Google Shape;307;p34"/>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8" name="Google Shape;308;p34"/>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9" name="Google Shape;309;p34"/>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310" name="Google Shape;310;p34"/>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1" name="Google Shape;311;p34"/>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2" name="Google Shape;312;p34"/>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3" name="Google Shape;313;p34"/>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4" name="Google Shape;314;p34"/>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5" name="Google Shape;315;p34"/>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6" name="Google Shape;316;p34"/>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317" name="Shape 317"/>
        <p:cNvGrpSpPr/>
        <p:nvPr/>
      </p:nvGrpSpPr>
      <p:grpSpPr>
        <a:xfrm>
          <a:off x="0" y="0"/>
          <a:ext cx="0" cy="0"/>
          <a:chOff x="0" y="0"/>
          <a:chExt cx="0" cy="0"/>
        </a:xfrm>
      </p:grpSpPr>
      <p:sp>
        <p:nvSpPr>
          <p:cNvPr id="318" name="Google Shape;318;p3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19" name="Google Shape;319;p3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20" name="Google Shape;320;p3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21" name="Google Shape;321;p3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2" name="Google Shape;322;p35"/>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3" name="Google Shape;323;p35"/>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4" name="Google Shape;324;p35"/>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5" name="Google Shape;325;p35"/>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6" name="Google Shape;326;p35"/>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7" name="Google Shape;327;p35"/>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8" name="Google Shape;328;p35"/>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9" name="Google Shape;329;p35"/>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0" name="Google Shape;330;p35"/>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31" name="Google Shape;331;p35"/>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32" name="Google Shape;332;p35"/>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3" name="Google Shape;333;p35"/>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334" name="Shape 334"/>
        <p:cNvGrpSpPr/>
        <p:nvPr/>
      </p:nvGrpSpPr>
      <p:grpSpPr>
        <a:xfrm>
          <a:off x="0" y="0"/>
          <a:ext cx="0" cy="0"/>
          <a:chOff x="0" y="0"/>
          <a:chExt cx="0" cy="0"/>
        </a:xfrm>
      </p:grpSpPr>
      <p:sp>
        <p:nvSpPr>
          <p:cNvPr id="335" name="Google Shape;335;p3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6" name="Google Shape;336;p36"/>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7" name="Google Shape;337;p3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8" name="Google Shape;338;p3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9" name="Google Shape;339;p3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40" name="Google Shape;340;p36"/>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1" name="Google Shape;341;p36"/>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2" name="Google Shape;342;p36"/>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3" name="Google Shape;343;p36"/>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4" name="Google Shape;344;p36"/>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5" name="Google Shape;345;p36"/>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6" name="Google Shape;346;p36"/>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7" name="Google Shape;347;p36"/>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8" name="Google Shape;348;p36"/>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49" name="Shape 349"/>
        <p:cNvGrpSpPr/>
        <p:nvPr/>
      </p:nvGrpSpPr>
      <p:grpSpPr>
        <a:xfrm>
          <a:off x="0" y="0"/>
          <a:ext cx="0" cy="0"/>
          <a:chOff x="0" y="0"/>
          <a:chExt cx="0" cy="0"/>
        </a:xfrm>
      </p:grpSpPr>
      <p:sp>
        <p:nvSpPr>
          <p:cNvPr id="350" name="Google Shape;350;p37"/>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51" name="Google Shape;351;p3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2" name="Google Shape;352;p3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3" name="Google Shape;353;p37"/>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54" name="Google Shape;354;p37"/>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55" name="Google Shape;355;p37"/>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6" name="Google Shape;356;p37"/>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7" name="Google Shape;357;p37"/>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8" name="Google Shape;358;p37"/>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9" name="Google Shape;359;p37"/>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0" name="Google Shape;360;p37"/>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1" name="Google Shape;361;p37"/>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2" name="Google Shape;362;p37"/>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3" name="Google Shape;363;p37"/>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4" name="Google Shape;364;p37"/>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5" name="Google Shape;365;p37"/>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6" name="Google Shape;366;p37"/>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7" name="Google Shape;367;p37"/>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8" name="Google Shape;368;p37"/>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9" name="Google Shape;369;p37"/>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70" name="Google Shape;370;p37"/>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71" name="Shape 371"/>
        <p:cNvGrpSpPr/>
        <p:nvPr/>
      </p:nvGrpSpPr>
      <p:grpSpPr>
        <a:xfrm>
          <a:off x="0" y="0"/>
          <a:ext cx="0" cy="0"/>
          <a:chOff x="0" y="0"/>
          <a:chExt cx="0" cy="0"/>
        </a:xfrm>
      </p:grpSpPr>
      <p:sp>
        <p:nvSpPr>
          <p:cNvPr id="372" name="Google Shape;372;p38"/>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3" name="Google Shape;373;p38"/>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4" name="Google Shape;374;p3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5" name="Google Shape;375;p3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6" name="Google Shape;376;p38"/>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77" name="Google Shape;377;p38"/>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78" name="Google Shape;378;p38"/>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9" name="Shape 379"/>
        <p:cNvGrpSpPr/>
        <p:nvPr/>
      </p:nvGrpSpPr>
      <p:grpSpPr>
        <a:xfrm>
          <a:off x="0" y="0"/>
          <a:ext cx="0" cy="0"/>
          <a:chOff x="0" y="0"/>
          <a:chExt cx="0" cy="0"/>
        </a:xfrm>
      </p:grpSpPr>
      <p:sp>
        <p:nvSpPr>
          <p:cNvPr id="380" name="Google Shape;380;p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1" name="Google Shape;381;p39"/>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2" name="Shape 382"/>
        <p:cNvGrpSpPr/>
        <p:nvPr/>
      </p:nvGrpSpPr>
      <p:grpSpPr>
        <a:xfrm>
          <a:off x="0" y="0"/>
          <a:ext cx="0" cy="0"/>
          <a:chOff x="0" y="0"/>
          <a:chExt cx="0" cy="0"/>
        </a:xfrm>
      </p:grpSpPr>
      <p:sp>
        <p:nvSpPr>
          <p:cNvPr id="383" name="Google Shape;383;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4" name="Shape 384"/>
        <p:cNvGrpSpPr/>
        <p:nvPr/>
      </p:nvGrpSpPr>
      <p:grpSpPr>
        <a:xfrm>
          <a:off x="0" y="0"/>
          <a:ext cx="0" cy="0"/>
          <a:chOff x="0" y="0"/>
          <a:chExt cx="0" cy="0"/>
        </a:xfrm>
      </p:grpSpPr>
      <p:sp>
        <p:nvSpPr>
          <p:cNvPr id="385" name="Google Shape;38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7" name="Shape 387"/>
        <p:cNvGrpSpPr/>
        <p:nvPr/>
      </p:nvGrpSpPr>
      <p:grpSpPr>
        <a:xfrm>
          <a:off x="0" y="0"/>
          <a:ext cx="0" cy="0"/>
          <a:chOff x="0" y="0"/>
          <a:chExt cx="0" cy="0"/>
        </a:xfrm>
      </p:grpSpPr>
      <p:sp>
        <p:nvSpPr>
          <p:cNvPr id="388" name="Google Shape;38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9" name="Google Shape;389;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0" name="Google Shape;390;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1" name="Shape 391"/>
        <p:cNvGrpSpPr/>
        <p:nvPr/>
      </p:nvGrpSpPr>
      <p:grpSpPr>
        <a:xfrm>
          <a:off x="0" y="0"/>
          <a:ext cx="0" cy="0"/>
          <a:chOff x="0" y="0"/>
          <a:chExt cx="0" cy="0"/>
        </a:xfrm>
      </p:grpSpPr>
      <p:sp>
        <p:nvSpPr>
          <p:cNvPr id="392" name="Google Shape;39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5" name="Google Shape;395;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6" name="Shape 396"/>
        <p:cNvGrpSpPr/>
        <p:nvPr/>
      </p:nvGrpSpPr>
      <p:grpSpPr>
        <a:xfrm>
          <a:off x="0" y="0"/>
          <a:ext cx="0" cy="0"/>
          <a:chOff x="0" y="0"/>
          <a:chExt cx="0" cy="0"/>
        </a:xfrm>
      </p:grpSpPr>
      <p:sp>
        <p:nvSpPr>
          <p:cNvPr id="397" name="Google Shape;397;p4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8" name="Shape 398"/>
        <p:cNvGrpSpPr/>
        <p:nvPr/>
      </p:nvGrpSpPr>
      <p:grpSpPr>
        <a:xfrm>
          <a:off x="0" y="0"/>
          <a:ext cx="0" cy="0"/>
          <a:chOff x="0" y="0"/>
          <a:chExt cx="0" cy="0"/>
        </a:xfrm>
      </p:grpSpPr>
      <p:sp>
        <p:nvSpPr>
          <p:cNvPr id="399" name="Google Shape;399;p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0" name="Google Shape;400;p46"/>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1" name="Google Shape;401;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2" name="Shape 402"/>
        <p:cNvGrpSpPr/>
        <p:nvPr/>
      </p:nvGrpSpPr>
      <p:grpSpPr>
        <a:xfrm>
          <a:off x="0" y="0"/>
          <a:ext cx="0" cy="0"/>
          <a:chOff x="0" y="0"/>
          <a:chExt cx="0" cy="0"/>
        </a:xfrm>
      </p:grpSpPr>
      <p:sp>
        <p:nvSpPr>
          <p:cNvPr id="403" name="Google Shape;403;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4" name="Shape 404"/>
        <p:cNvGrpSpPr/>
        <p:nvPr/>
      </p:nvGrpSpPr>
      <p:grpSpPr>
        <a:xfrm>
          <a:off x="0" y="0"/>
          <a:ext cx="0" cy="0"/>
          <a:chOff x="0" y="0"/>
          <a:chExt cx="0" cy="0"/>
        </a:xfrm>
      </p:grpSpPr>
      <p:sp>
        <p:nvSpPr>
          <p:cNvPr id="405" name="Google Shape;405;p4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6" name="Google Shape;406;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7" name="Shape 407"/>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8" name="Shape 408"/>
        <p:cNvGrpSpPr/>
        <p:nvPr/>
      </p:nvGrpSpPr>
      <p:grpSpPr>
        <a:xfrm>
          <a:off x="0" y="0"/>
          <a:ext cx="0" cy="0"/>
          <a:chOff x="0" y="0"/>
          <a:chExt cx="0" cy="0"/>
        </a:xfrm>
      </p:grpSpPr>
      <p:sp>
        <p:nvSpPr>
          <p:cNvPr id="409" name="Google Shape;409;p5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50"/>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50"/>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50"/>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50"/>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50"/>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5" name="Google Shape;415;p50"/>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6" name="Shape 416"/>
        <p:cNvGrpSpPr/>
        <p:nvPr/>
      </p:nvGrpSpPr>
      <p:grpSpPr>
        <a:xfrm>
          <a:off x="0" y="0"/>
          <a:ext cx="0" cy="0"/>
          <a:chOff x="0" y="0"/>
          <a:chExt cx="0" cy="0"/>
        </a:xfrm>
      </p:grpSpPr>
      <p:sp>
        <p:nvSpPr>
          <p:cNvPr id="417" name="Google Shape;41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5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9" name="Google Shape;419;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20" name="Shape 420"/>
        <p:cNvGrpSpPr/>
        <p:nvPr/>
      </p:nvGrpSpPr>
      <p:grpSpPr>
        <a:xfrm>
          <a:off x="0" y="0"/>
          <a:ext cx="0" cy="0"/>
          <a:chOff x="0" y="0"/>
          <a:chExt cx="0" cy="0"/>
        </a:xfrm>
      </p:grpSpPr>
      <p:sp>
        <p:nvSpPr>
          <p:cNvPr id="421" name="Google Shape;421;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2" name="Google Shape;422;p5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52"/>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5" name="Google Shape;425;p52"/>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6" name="Shape 426"/>
        <p:cNvGrpSpPr/>
        <p:nvPr/>
      </p:nvGrpSpPr>
      <p:grpSpPr>
        <a:xfrm>
          <a:off x="0" y="0"/>
          <a:ext cx="0" cy="0"/>
          <a:chOff x="0" y="0"/>
          <a:chExt cx="0" cy="0"/>
        </a:xfrm>
      </p:grpSpPr>
      <p:sp>
        <p:nvSpPr>
          <p:cNvPr id="427" name="Google Shape;427;p5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0" name="Google Shape;430;p53"/>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3"/>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53"/>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5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4" name="Shape 434"/>
        <p:cNvGrpSpPr/>
        <p:nvPr/>
      </p:nvGrpSpPr>
      <p:grpSpPr>
        <a:xfrm>
          <a:off x="0" y="0"/>
          <a:ext cx="0" cy="0"/>
          <a:chOff x="0" y="0"/>
          <a:chExt cx="0" cy="0"/>
        </a:xfrm>
      </p:grpSpPr>
      <p:sp>
        <p:nvSpPr>
          <p:cNvPr id="435" name="Google Shape;435;p5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9" name="Google Shape;439;p5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0" name="Google Shape;440;p54"/>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4"/>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4"/>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4"/>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4" name="Shape 444"/>
        <p:cNvGrpSpPr/>
        <p:nvPr/>
      </p:nvGrpSpPr>
      <p:grpSpPr>
        <a:xfrm>
          <a:off x="0" y="0"/>
          <a:ext cx="0" cy="0"/>
          <a:chOff x="0" y="0"/>
          <a:chExt cx="0" cy="0"/>
        </a:xfrm>
      </p:grpSpPr>
      <p:sp>
        <p:nvSpPr>
          <p:cNvPr id="445" name="Google Shape;445;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7" name="Shape 447"/>
        <p:cNvGrpSpPr/>
        <p:nvPr/>
      </p:nvGrpSpPr>
      <p:grpSpPr>
        <a:xfrm>
          <a:off x="0" y="0"/>
          <a:ext cx="0" cy="0"/>
          <a:chOff x="0" y="0"/>
          <a:chExt cx="0" cy="0"/>
        </a:xfrm>
      </p:grpSpPr>
      <p:sp>
        <p:nvSpPr>
          <p:cNvPr id="448" name="Google Shape;448;p5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9" name="Google Shape;449;p56"/>
          <p:cNvSpPr/>
          <p:nvPr>
            <p:ph idx="2" type="pic"/>
          </p:nvPr>
        </p:nvSpPr>
        <p:spPr>
          <a:xfrm>
            <a:off x="4804825" y="1133300"/>
            <a:ext cx="4027500" cy="2392800"/>
          </a:xfrm>
          <a:prstGeom prst="rect">
            <a:avLst/>
          </a:prstGeom>
          <a:noFill/>
          <a:ln>
            <a:noFill/>
          </a:ln>
        </p:spPr>
      </p:sp>
      <p:sp>
        <p:nvSpPr>
          <p:cNvPr id="450" name="Google Shape;450;p56"/>
          <p:cNvSpPr/>
          <p:nvPr>
            <p:ph idx="3" type="pic"/>
          </p:nvPr>
        </p:nvSpPr>
        <p:spPr>
          <a:xfrm>
            <a:off x="311725" y="1133300"/>
            <a:ext cx="4027500" cy="2392800"/>
          </a:xfrm>
          <a:prstGeom prst="rect">
            <a:avLst/>
          </a:prstGeom>
          <a:noFill/>
          <a:ln>
            <a:noFill/>
          </a:ln>
        </p:spPr>
      </p:sp>
      <p:sp>
        <p:nvSpPr>
          <p:cNvPr id="451" name="Google Shape;451;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3" name="Google Shape;453;p56"/>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4" name="Google Shape;454;p56"/>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5" name="Shape 455"/>
        <p:cNvGrpSpPr/>
        <p:nvPr/>
      </p:nvGrpSpPr>
      <p:grpSpPr>
        <a:xfrm>
          <a:off x="0" y="0"/>
          <a:ext cx="0" cy="0"/>
          <a:chOff x="0" y="0"/>
          <a:chExt cx="0" cy="0"/>
        </a:xfrm>
      </p:grpSpPr>
      <p:sp>
        <p:nvSpPr>
          <p:cNvPr id="456" name="Google Shape;456;p5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7" name="Google Shape;457;p57"/>
          <p:cNvSpPr/>
          <p:nvPr>
            <p:ph idx="2" type="pic"/>
          </p:nvPr>
        </p:nvSpPr>
        <p:spPr>
          <a:xfrm>
            <a:off x="6205225" y="1128325"/>
            <a:ext cx="2627100" cy="2273100"/>
          </a:xfrm>
          <a:prstGeom prst="rect">
            <a:avLst/>
          </a:prstGeom>
          <a:noFill/>
          <a:ln>
            <a:noFill/>
          </a:ln>
        </p:spPr>
      </p:sp>
      <p:sp>
        <p:nvSpPr>
          <p:cNvPr id="458" name="Google Shape;458;p57"/>
          <p:cNvSpPr/>
          <p:nvPr>
            <p:ph idx="3" type="pic"/>
          </p:nvPr>
        </p:nvSpPr>
        <p:spPr>
          <a:xfrm>
            <a:off x="311725" y="1128325"/>
            <a:ext cx="2627100" cy="2273100"/>
          </a:xfrm>
          <a:prstGeom prst="rect">
            <a:avLst/>
          </a:prstGeom>
          <a:noFill/>
          <a:ln>
            <a:noFill/>
          </a:ln>
        </p:spPr>
      </p:sp>
      <p:sp>
        <p:nvSpPr>
          <p:cNvPr id="459" name="Google Shape;459;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0" name="Google Shape;460;p57"/>
          <p:cNvSpPr/>
          <p:nvPr>
            <p:ph idx="5" type="pic"/>
          </p:nvPr>
        </p:nvSpPr>
        <p:spPr>
          <a:xfrm>
            <a:off x="3255250" y="1128325"/>
            <a:ext cx="2627100" cy="2273100"/>
          </a:xfrm>
          <a:prstGeom prst="rect">
            <a:avLst/>
          </a:prstGeom>
          <a:noFill/>
          <a:ln>
            <a:noFill/>
          </a:ln>
        </p:spPr>
      </p:sp>
      <p:sp>
        <p:nvSpPr>
          <p:cNvPr id="461" name="Google Shape;461;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2" name="Google Shape;462;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3" name="Google Shape;463;p57"/>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7"/>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5" name="Google Shape;465;p57"/>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6" name="Shape 466"/>
        <p:cNvGrpSpPr/>
        <p:nvPr/>
      </p:nvGrpSpPr>
      <p:grpSpPr>
        <a:xfrm>
          <a:off x="0" y="0"/>
          <a:ext cx="0" cy="0"/>
          <a:chOff x="0" y="0"/>
          <a:chExt cx="0" cy="0"/>
        </a:xfrm>
      </p:grpSpPr>
      <p:sp>
        <p:nvSpPr>
          <p:cNvPr id="467" name="Google Shape;467;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8" name="Shape 468"/>
        <p:cNvGrpSpPr/>
        <p:nvPr/>
      </p:nvGrpSpPr>
      <p:grpSpPr>
        <a:xfrm>
          <a:off x="0" y="0"/>
          <a:ext cx="0" cy="0"/>
          <a:chOff x="0" y="0"/>
          <a:chExt cx="0" cy="0"/>
        </a:xfrm>
      </p:grpSpPr>
      <p:sp>
        <p:nvSpPr>
          <p:cNvPr id="469" name="Google Shape;469;p59"/>
          <p:cNvSpPr/>
          <p:nvPr>
            <p:ph idx="2" type="pic"/>
          </p:nvPr>
        </p:nvSpPr>
        <p:spPr>
          <a:xfrm>
            <a:off x="3389600" y="118913"/>
            <a:ext cx="1643700" cy="1535100"/>
          </a:xfrm>
          <a:prstGeom prst="rect">
            <a:avLst/>
          </a:prstGeom>
          <a:noFill/>
          <a:ln>
            <a:noFill/>
          </a:ln>
        </p:spPr>
      </p:sp>
      <p:sp>
        <p:nvSpPr>
          <p:cNvPr id="470" name="Google Shape;470;p59"/>
          <p:cNvSpPr/>
          <p:nvPr>
            <p:ph idx="3" type="pic"/>
          </p:nvPr>
        </p:nvSpPr>
        <p:spPr>
          <a:xfrm>
            <a:off x="5195935" y="118913"/>
            <a:ext cx="1643700" cy="1535100"/>
          </a:xfrm>
          <a:prstGeom prst="rect">
            <a:avLst/>
          </a:prstGeom>
          <a:noFill/>
          <a:ln>
            <a:noFill/>
          </a:ln>
        </p:spPr>
      </p:sp>
      <p:sp>
        <p:nvSpPr>
          <p:cNvPr id="471" name="Google Shape;471;p59"/>
          <p:cNvSpPr/>
          <p:nvPr>
            <p:ph idx="4" type="pic"/>
          </p:nvPr>
        </p:nvSpPr>
        <p:spPr>
          <a:xfrm>
            <a:off x="7002270" y="118913"/>
            <a:ext cx="1643700" cy="1535100"/>
          </a:xfrm>
          <a:prstGeom prst="rect">
            <a:avLst/>
          </a:prstGeom>
          <a:noFill/>
          <a:ln>
            <a:noFill/>
          </a:ln>
        </p:spPr>
      </p:sp>
      <p:sp>
        <p:nvSpPr>
          <p:cNvPr id="472" name="Google Shape;472;p59"/>
          <p:cNvSpPr/>
          <p:nvPr>
            <p:ph idx="5" type="pic"/>
          </p:nvPr>
        </p:nvSpPr>
        <p:spPr>
          <a:xfrm>
            <a:off x="3389588" y="1804212"/>
            <a:ext cx="1643700" cy="1535100"/>
          </a:xfrm>
          <a:prstGeom prst="rect">
            <a:avLst/>
          </a:prstGeom>
          <a:noFill/>
          <a:ln>
            <a:noFill/>
          </a:ln>
        </p:spPr>
      </p:sp>
      <p:sp>
        <p:nvSpPr>
          <p:cNvPr id="473" name="Google Shape;473;p59"/>
          <p:cNvSpPr/>
          <p:nvPr>
            <p:ph idx="6" type="pic"/>
          </p:nvPr>
        </p:nvSpPr>
        <p:spPr>
          <a:xfrm>
            <a:off x="5195922" y="1804212"/>
            <a:ext cx="1643700" cy="1535100"/>
          </a:xfrm>
          <a:prstGeom prst="rect">
            <a:avLst/>
          </a:prstGeom>
          <a:noFill/>
          <a:ln>
            <a:noFill/>
          </a:ln>
        </p:spPr>
      </p:sp>
      <p:sp>
        <p:nvSpPr>
          <p:cNvPr id="474" name="Google Shape;474;p59"/>
          <p:cNvSpPr/>
          <p:nvPr>
            <p:ph idx="7" type="pic"/>
          </p:nvPr>
        </p:nvSpPr>
        <p:spPr>
          <a:xfrm>
            <a:off x="7002257" y="1804212"/>
            <a:ext cx="1643700" cy="1535100"/>
          </a:xfrm>
          <a:prstGeom prst="rect">
            <a:avLst/>
          </a:prstGeom>
          <a:noFill/>
          <a:ln>
            <a:noFill/>
          </a:ln>
        </p:spPr>
      </p:sp>
      <p:sp>
        <p:nvSpPr>
          <p:cNvPr id="475" name="Google Shape;475;p5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59"/>
          <p:cNvSpPr/>
          <p:nvPr>
            <p:ph idx="8" type="pic"/>
          </p:nvPr>
        </p:nvSpPr>
        <p:spPr>
          <a:xfrm>
            <a:off x="3389588" y="3489487"/>
            <a:ext cx="1643700" cy="1535100"/>
          </a:xfrm>
          <a:prstGeom prst="rect">
            <a:avLst/>
          </a:prstGeom>
          <a:noFill/>
          <a:ln>
            <a:noFill/>
          </a:ln>
        </p:spPr>
      </p:sp>
      <p:sp>
        <p:nvSpPr>
          <p:cNvPr id="477" name="Google Shape;477;p59"/>
          <p:cNvSpPr/>
          <p:nvPr>
            <p:ph idx="9" type="pic"/>
          </p:nvPr>
        </p:nvSpPr>
        <p:spPr>
          <a:xfrm>
            <a:off x="5195922" y="3489487"/>
            <a:ext cx="1643700" cy="1535100"/>
          </a:xfrm>
          <a:prstGeom prst="rect">
            <a:avLst/>
          </a:prstGeom>
          <a:noFill/>
          <a:ln>
            <a:noFill/>
          </a:ln>
        </p:spPr>
      </p:sp>
      <p:sp>
        <p:nvSpPr>
          <p:cNvPr id="478" name="Google Shape;478;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1.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2" name="Google Shape;52;p13"/>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13"/>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54" name="Google Shape;54;p13"/>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idx="3" type="title"/>
          </p:nvPr>
        </p:nvSpPr>
        <p:spPr>
          <a:xfrm>
            <a:off x="479693" y="1849658"/>
            <a:ext cx="8278500" cy="1444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700"/>
              <a:t>Securing the Internet of Medical Things (IoMT)</a:t>
            </a:r>
            <a:endParaRPr sz="2700"/>
          </a:p>
          <a:p>
            <a:pPr indent="0" lvl="0" marL="0" rtl="0" algn="l">
              <a:spcBef>
                <a:spcPts val="0"/>
              </a:spcBef>
              <a:spcAft>
                <a:spcPts val="0"/>
              </a:spcAft>
              <a:buClr>
                <a:schemeClr val="lt1"/>
              </a:buClr>
              <a:buSzPts val="1100"/>
              <a:buFont typeface="Arial"/>
              <a:buNone/>
            </a:pPr>
            <a:r>
              <a:t/>
            </a:r>
            <a:endParaRPr sz="2700"/>
          </a:p>
          <a:p>
            <a:pPr indent="0" lvl="0" marL="0" rtl="0" algn="l">
              <a:spcBef>
                <a:spcPts val="0"/>
              </a:spcBef>
              <a:spcAft>
                <a:spcPts val="0"/>
              </a:spcAft>
              <a:buClr>
                <a:schemeClr val="lt1"/>
              </a:buClr>
              <a:buSzPts val="1100"/>
              <a:buFont typeface="Arial"/>
              <a:buNone/>
            </a:pPr>
            <a:r>
              <a:rPr lang="en" sz="2700"/>
              <a:t>● Cybersecurity challenges in connected healthcare,</a:t>
            </a:r>
            <a:endParaRPr sz="2700"/>
          </a:p>
          <a:p>
            <a:pPr indent="0" lvl="0" marL="0" rtl="0" algn="l">
              <a:spcBef>
                <a:spcPts val="0"/>
              </a:spcBef>
              <a:spcAft>
                <a:spcPts val="0"/>
              </a:spcAft>
              <a:buClr>
                <a:schemeClr val="lt1"/>
              </a:buClr>
              <a:buSzPts val="1100"/>
              <a:buFont typeface="Arial"/>
              <a:buNone/>
            </a:pPr>
            <a:r>
              <a:rPr lang="en" sz="2700"/>
              <a:t>pacemakers, and hospital networks.</a:t>
            </a:r>
            <a:endParaRPr sz="2700"/>
          </a:p>
          <a:p>
            <a:pPr indent="0" lvl="0" marL="0" rtl="0" algn="l">
              <a:spcBef>
                <a:spcPts val="0"/>
              </a:spcBef>
              <a:spcAft>
                <a:spcPts val="0"/>
              </a:spcAft>
              <a:buNone/>
            </a:pPr>
            <a:r>
              <a:t/>
            </a:r>
            <a:endParaRPr sz="2700"/>
          </a:p>
        </p:txBody>
      </p:sp>
      <p:sp>
        <p:nvSpPr>
          <p:cNvPr id="484" name="Google Shape;484;p60"/>
          <p:cNvSpPr txBox="1"/>
          <p:nvPr>
            <p:ph idx="1" type="subTitle"/>
          </p:nvPr>
        </p:nvSpPr>
        <p:spPr>
          <a:xfrm>
            <a:off x="380625" y="129820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Aaditya Vishwakarma</a:t>
            </a:r>
            <a:endParaRPr/>
          </a:p>
        </p:txBody>
      </p:sp>
      <p:sp>
        <p:nvSpPr>
          <p:cNvPr id="485" name="Google Shape;485;p60"/>
          <p:cNvSpPr txBox="1"/>
          <p:nvPr>
            <p:ph idx="2" type="subTitle"/>
          </p:nvPr>
        </p:nvSpPr>
        <p:spPr>
          <a:xfrm>
            <a:off x="380625" y="107945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1"/>
          <p:cNvSpPr txBox="1"/>
          <p:nvPr>
            <p:ph idx="18" type="title"/>
          </p:nvPr>
        </p:nvSpPr>
        <p:spPr>
          <a:xfrm>
            <a:off x="123475" y="190325"/>
            <a:ext cx="5762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Introduction</a:t>
            </a:r>
            <a:endParaRPr/>
          </a:p>
        </p:txBody>
      </p:sp>
      <p:sp>
        <p:nvSpPr>
          <p:cNvPr id="491" name="Google Shape;491;p61"/>
          <p:cNvSpPr txBox="1"/>
          <p:nvPr>
            <p:ph idx="4" type="title"/>
          </p:nvPr>
        </p:nvSpPr>
        <p:spPr>
          <a:xfrm>
            <a:off x="6414875" y="58625"/>
            <a:ext cx="2500500" cy="172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492" name="Google Shape;492;p61"/>
          <p:cNvSpPr txBox="1"/>
          <p:nvPr/>
        </p:nvSpPr>
        <p:spPr>
          <a:xfrm>
            <a:off x="195525" y="601580"/>
            <a:ext cx="8775600" cy="413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rPr>
              <a:t>Securing the Internet of Medical Things (IoMT)</a:t>
            </a:r>
            <a:endParaRPr b="1" sz="13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What is IoMT?</a:t>
            </a:r>
            <a:endParaRPr b="1"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rPr>
              <a:t>The Internet of Medical Things (IoMT) is a network of connected medical devices, healthcare equipment, and software systems that collect, transmit, and process medical data. It enables remote patient monitoring, smart healthcare services, and efficient hospital management.</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Examples of IoMT Devices: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 </a:t>
            </a:r>
            <a:r>
              <a:rPr b="1" lang="en" sz="1100">
                <a:solidFill>
                  <a:schemeClr val="dk1"/>
                </a:solidFill>
              </a:rPr>
              <a:t>Smart Pacemakers</a:t>
            </a:r>
            <a:r>
              <a:rPr lang="en" sz="1100">
                <a:solidFill>
                  <a:schemeClr val="dk1"/>
                </a:solidFill>
              </a:rPr>
              <a:t> — Monitor and help regulate heart rhythms.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 </a:t>
            </a:r>
            <a:r>
              <a:rPr b="1" lang="en" sz="1100">
                <a:solidFill>
                  <a:schemeClr val="dk1"/>
                </a:solidFill>
              </a:rPr>
              <a:t>Wearable Health Devices</a:t>
            </a:r>
            <a:r>
              <a:rPr lang="en" sz="1100">
                <a:solidFill>
                  <a:schemeClr val="dk1"/>
                </a:solidFill>
              </a:rPr>
              <a:t> — Track heart rate, oxygen levels, and other health measurements.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 </a:t>
            </a:r>
            <a:r>
              <a:rPr b="1" lang="en" sz="1100">
                <a:solidFill>
                  <a:schemeClr val="dk1"/>
                </a:solidFill>
              </a:rPr>
              <a:t>Connected Insulin Pumps</a:t>
            </a:r>
            <a:r>
              <a:rPr lang="en" sz="1100">
                <a:solidFill>
                  <a:schemeClr val="dk1"/>
                </a:solidFill>
              </a:rPr>
              <a:t> — Deliver insulin according to configured treatment requirements.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 </a:t>
            </a:r>
            <a:r>
              <a:rPr b="1" lang="en" sz="1100">
                <a:solidFill>
                  <a:schemeClr val="dk1"/>
                </a:solidFill>
              </a:rPr>
              <a:t>Patient Monitoring Systems</a:t>
            </a:r>
            <a:r>
              <a:rPr lang="en" sz="1100">
                <a:solidFill>
                  <a:schemeClr val="dk1"/>
                </a:solidFill>
              </a:rPr>
              <a:t> — Monitor patients' vital signs.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 </a:t>
            </a:r>
            <a:r>
              <a:rPr b="1" lang="en" sz="1100">
                <a:solidFill>
                  <a:schemeClr val="dk1"/>
                </a:solidFill>
              </a:rPr>
              <a:t>Connected Medical Equipment</a:t>
            </a:r>
            <a:r>
              <a:rPr lang="en" sz="1100">
                <a:solidFill>
                  <a:schemeClr val="dk1"/>
                </a:solidFill>
              </a:rPr>
              <a:t> — Includes network-connected scanners and diagnostic systems.</a:t>
            </a:r>
            <a:endParaRPr sz="11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Why Is IoMT Security Important?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Protects confidential patient information.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Prevents unauthorized access to medical devices.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Helps maintain the reliability of hospital networks.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Reduces the risk of healthcare service disruption.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Supports patient safety and data integrity.</a:t>
            </a:r>
            <a:endParaRPr sz="1100">
              <a:solidFill>
                <a:schemeClr val="dk1"/>
              </a:solidFill>
            </a:endParaRPr>
          </a:p>
          <a:p>
            <a:pPr indent="0" lvl="0" marL="0" rtl="0" algn="l">
              <a:spcBef>
                <a:spcPts val="1200"/>
              </a:spcBef>
              <a:spcAft>
                <a:spcPts val="0"/>
              </a:spcAft>
              <a:buNone/>
            </a:pPr>
            <a:r>
              <a:t/>
            </a:r>
            <a:endParaRPr sz="1200">
              <a:solidFill>
                <a:schemeClr val="dk1"/>
              </a:solidFill>
              <a:latin typeface="Jost"/>
              <a:ea typeface="Jost"/>
              <a:cs typeface="Jost"/>
              <a:sym typeface="Jo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2"/>
          <p:cNvSpPr txBox="1"/>
          <p:nvPr/>
        </p:nvSpPr>
        <p:spPr>
          <a:xfrm>
            <a:off x="188000" y="225600"/>
            <a:ext cx="3624600" cy="4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Jost"/>
                <a:ea typeface="Jost"/>
                <a:cs typeface="Jost"/>
                <a:sym typeface="Jost"/>
              </a:rPr>
              <a:t>Problem Statement</a:t>
            </a:r>
            <a:endParaRPr sz="1600">
              <a:solidFill>
                <a:schemeClr val="dk1"/>
              </a:solidFill>
              <a:latin typeface="Jost"/>
              <a:ea typeface="Jost"/>
              <a:cs typeface="Jost"/>
              <a:sym typeface="Jost"/>
            </a:endParaRPr>
          </a:p>
        </p:txBody>
      </p:sp>
      <p:sp>
        <p:nvSpPr>
          <p:cNvPr id="498" name="Google Shape;498;p62"/>
          <p:cNvSpPr txBox="1"/>
          <p:nvPr/>
        </p:nvSpPr>
        <p:spPr>
          <a:xfrm>
            <a:off x="120325" y="654225"/>
            <a:ext cx="8918400" cy="425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Cybersecurity Challenges in Connected Healthcare</a:t>
            </a:r>
            <a:endParaRPr b="1" sz="1300">
              <a:solidFill>
                <a:schemeClr val="dk1"/>
              </a:solidFill>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latin typeface="Urbanist"/>
                <a:ea typeface="Urbanist"/>
                <a:cs typeface="Urbanist"/>
                <a:sym typeface="Urbanist"/>
              </a:rPr>
              <a:t>Modern healthcare systems rely on connected medical devices and hospital networks to monitor patients and manage sensitive medical information. However, inadequate security controls can expose these systems to cyberattacks, unauthorized access, and service disruptions.</a:t>
            </a:r>
            <a:endParaRPr sz="1100">
              <a:solidFill>
                <a:schemeClr val="dk1"/>
              </a:solidFill>
              <a:latin typeface="Urbanist"/>
              <a:ea typeface="Urbanist"/>
              <a:cs typeface="Urbanist"/>
              <a:sym typeface="Urbanist"/>
            </a:endParaRPr>
          </a:p>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Major Problems</a:t>
            </a:r>
            <a:endParaRPr b="1" sz="1300">
              <a:solidFill>
                <a:schemeClr val="dk1"/>
              </a:solidFill>
              <a:latin typeface="Urbanist"/>
              <a:ea typeface="Urbanist"/>
              <a:cs typeface="Urbanist"/>
              <a:sym typeface="Urbanist"/>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Unauthorized Device Access:</a:t>
            </a:r>
            <a:r>
              <a:rPr lang="en" sz="1100">
                <a:solidFill>
                  <a:schemeClr val="dk1"/>
                </a:solidFill>
                <a:latin typeface="Urbanist"/>
                <a:ea typeface="Urbanist"/>
                <a:cs typeface="Urbanist"/>
                <a:sym typeface="Urbanist"/>
              </a:rPr>
              <a:t> Attackers may attempt to access connected medical devices and healthcare systems.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Patient Data Breaches:</a:t>
            </a:r>
            <a:r>
              <a:rPr lang="en" sz="1100">
                <a:solidFill>
                  <a:schemeClr val="dk1"/>
                </a:solidFill>
                <a:latin typeface="Urbanist"/>
                <a:ea typeface="Urbanist"/>
                <a:cs typeface="Urbanist"/>
                <a:sym typeface="Urbanist"/>
              </a:rPr>
              <a:t> Sensitive medical records may be exposed, stolen, or modified.</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Pacemaker Security Risks:</a:t>
            </a:r>
            <a:r>
              <a:rPr lang="en" sz="1100">
                <a:solidFill>
                  <a:schemeClr val="dk1"/>
                </a:solidFill>
                <a:latin typeface="Urbanist"/>
                <a:ea typeface="Urbanist"/>
                <a:cs typeface="Urbanist"/>
                <a:sym typeface="Urbanist"/>
              </a:rPr>
              <a:t> Vulnerabilities in connected cardiac devices or their communication systems may create potential patient-safety risks.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Hospital Network Attacks:</a:t>
            </a:r>
            <a:r>
              <a:rPr lang="en" sz="1100">
                <a:solidFill>
                  <a:schemeClr val="dk1"/>
                </a:solidFill>
                <a:latin typeface="Urbanist"/>
                <a:ea typeface="Urbanist"/>
                <a:cs typeface="Urbanist"/>
                <a:sym typeface="Urbanist"/>
              </a:rPr>
              <a:t> Malware and ransomware can disrupt hospital operations and access to medical records.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Outdated Medical Devices:</a:t>
            </a:r>
            <a:r>
              <a:rPr lang="en" sz="1100">
                <a:solidFill>
                  <a:schemeClr val="dk1"/>
                </a:solidFill>
                <a:latin typeface="Urbanist"/>
                <a:ea typeface="Urbanist"/>
                <a:cs typeface="Urbanist"/>
                <a:sym typeface="Urbanist"/>
              </a:rPr>
              <a:t> Legacy software and delayed security updates can leave known vulnerabilities unaddressed.</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Service Disruption:</a:t>
            </a:r>
            <a:r>
              <a:rPr lang="en" sz="1100">
                <a:solidFill>
                  <a:schemeClr val="dk1"/>
                </a:solidFill>
                <a:latin typeface="Urbanist"/>
                <a:ea typeface="Urbanist"/>
                <a:cs typeface="Urbanist"/>
                <a:sym typeface="Urbanist"/>
              </a:rPr>
              <a:t> Cybersecurity incidents can affect the availability and reliability of essential healthcare services.</a:t>
            </a:r>
            <a:endParaRPr sz="1100">
              <a:solidFill>
                <a:schemeClr val="dk1"/>
              </a:solidFill>
              <a:latin typeface="Urbanist"/>
              <a:ea typeface="Urbanist"/>
              <a:cs typeface="Urbanist"/>
              <a:sym typeface="Urbanist"/>
            </a:endParaRPr>
          </a:p>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Research Problem</a:t>
            </a:r>
            <a:endParaRPr b="1" sz="1300">
              <a:solidFill>
                <a:schemeClr val="dk1"/>
              </a:solidFill>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latin typeface="Urbanist"/>
                <a:ea typeface="Urbanist"/>
                <a:cs typeface="Urbanist"/>
                <a:sym typeface="Urbanist"/>
              </a:rPr>
              <a:t>How can cybersecurity mechanisms protect connected medical devices, patient information, and hospital networks while maintaining the safety, reliability, and availability of healthcare services?</a:t>
            </a:r>
            <a:endParaRPr b="1" sz="1100">
              <a:solidFill>
                <a:schemeClr val="dk1"/>
              </a:solidFill>
              <a:latin typeface="Urbanist"/>
              <a:ea typeface="Urbanist"/>
              <a:cs typeface="Urbanist"/>
              <a:sym typeface="Urbanist"/>
            </a:endParaRPr>
          </a:p>
          <a:p>
            <a:pPr indent="0" lvl="0" marL="0" rtl="0" algn="l">
              <a:spcBef>
                <a:spcPts val="1200"/>
              </a:spcBef>
              <a:spcAft>
                <a:spcPts val="0"/>
              </a:spcAft>
              <a:buNone/>
            </a:pPr>
            <a:r>
              <a:t/>
            </a:r>
            <a:endParaRPr sz="1200">
              <a:solidFill>
                <a:schemeClr val="dk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3"/>
          <p:cNvSpPr txBox="1"/>
          <p:nvPr>
            <p:ph idx="3" type="title"/>
          </p:nvPr>
        </p:nvSpPr>
        <p:spPr>
          <a:xfrm>
            <a:off x="132575" y="224850"/>
            <a:ext cx="62823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Research Objectives</a:t>
            </a:r>
            <a:endParaRPr/>
          </a:p>
        </p:txBody>
      </p:sp>
      <p:sp>
        <p:nvSpPr>
          <p:cNvPr id="504" name="Google Shape;504;p6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05" name="Google Shape;505;p63"/>
          <p:cNvSpPr txBox="1"/>
          <p:nvPr/>
        </p:nvSpPr>
        <p:spPr>
          <a:xfrm>
            <a:off x="150400" y="729425"/>
            <a:ext cx="8765100" cy="418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rPr>
              <a:t>Securing the Internet of Medical Things (IoMT)</a:t>
            </a:r>
            <a:endParaRPr b="1" sz="13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Objectives of the Study</a:t>
            </a:r>
            <a:endParaRPr b="1"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rPr>
              <a:t>Understand IoMT:</a:t>
            </a:r>
            <a:r>
              <a:rPr lang="en" sz="1100">
                <a:solidFill>
                  <a:schemeClr val="dk1"/>
                </a:solidFill>
              </a:rPr>
              <a:t> Study the architecture, applications, and importance of connected medical devices in healthcare.</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Identify Cybersecurity Threats:</a:t>
            </a:r>
            <a:r>
              <a:rPr lang="en" sz="1100">
                <a:solidFill>
                  <a:schemeClr val="dk1"/>
                </a:solidFill>
              </a:rPr>
              <a:t> Examine risks such as malware, ransomware, unauthorized access, and data breaches.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Analyse Medical Device Security:</a:t>
            </a:r>
            <a:r>
              <a:rPr lang="en" sz="1100">
                <a:solidFill>
                  <a:schemeClr val="dk1"/>
                </a:solidFill>
              </a:rPr>
              <a:t> Investigate security challenges associated with connected pacemakers, wearable devices, and patient-monitoring systems.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Protect Patient Data:</a:t>
            </a:r>
            <a:r>
              <a:rPr lang="en" sz="1100">
                <a:solidFill>
                  <a:schemeClr val="dk1"/>
                </a:solidFill>
              </a:rPr>
              <a:t> Explore encryption, authentication, and access-control mechanisms for safeguarding sensitive medical information.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Secure Hospital Networks:</a:t>
            </a:r>
            <a:r>
              <a:rPr lang="en" sz="1100">
                <a:solidFill>
                  <a:schemeClr val="dk1"/>
                </a:solidFill>
              </a:rPr>
              <a:t> Examine network segmentation, intrusion detection, and continuous security monitoring.</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Propose Security Solutions:</a:t>
            </a:r>
            <a:r>
              <a:rPr lang="en" sz="1100">
                <a:solidFill>
                  <a:schemeClr val="dk1"/>
                </a:solidFill>
              </a:rPr>
              <a:t> Develop a layered cybersecurity framework to improve IoMT security while maintaining patient safety.</a:t>
            </a:r>
            <a:endParaRPr sz="1100">
              <a:solidFill>
                <a:schemeClr val="dk1"/>
              </a:solidFill>
            </a:endParaRPr>
          </a:p>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rPr>
              <a:t>Research Goal</a:t>
            </a:r>
            <a:endParaRPr b="1" sz="1300">
              <a:solidFill>
                <a:schemeClr val="dk1"/>
              </a:solidFill>
            </a:endParaRPr>
          </a:p>
          <a:p>
            <a:pPr indent="0" lvl="0" marL="0" rtl="0" algn="l">
              <a:lnSpc>
                <a:spcPct val="115000"/>
              </a:lnSpc>
              <a:spcBef>
                <a:spcPts val="1200"/>
              </a:spcBef>
              <a:spcAft>
                <a:spcPts val="0"/>
              </a:spcAft>
              <a:buClr>
                <a:schemeClr val="lt1"/>
              </a:buClr>
              <a:buSzPts val="1100"/>
              <a:buFont typeface="Arial"/>
              <a:buNone/>
            </a:pPr>
            <a:r>
              <a:rPr b="1" lang="en" sz="1100">
                <a:solidFill>
                  <a:schemeClr val="dk1"/>
                </a:solidFill>
              </a:rPr>
              <a:t>To strengthen the security, privacy, reliability, and availability of connected healthcare systems while protecting patients and their medical data.</a:t>
            </a:r>
            <a:endParaRPr b="1" sz="1100">
              <a:solidFill>
                <a:schemeClr val="dk1"/>
              </a:solidFill>
            </a:endParaRPr>
          </a:p>
          <a:p>
            <a:pPr indent="0" lvl="0" marL="0" rtl="0" algn="l">
              <a:spcBef>
                <a:spcPts val="1200"/>
              </a:spcBef>
              <a:spcAft>
                <a:spcPts val="0"/>
              </a:spcAft>
              <a:buNone/>
            </a:pPr>
            <a:r>
              <a:t/>
            </a:r>
            <a:endParaRPr sz="1200">
              <a:solidFill>
                <a:schemeClr val="dk1"/>
              </a:solidFill>
              <a:latin typeface="Jost"/>
              <a:ea typeface="Jost"/>
              <a:cs typeface="Jost"/>
              <a:sym typeface="Jos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11" name="Google Shape;511;p64"/>
          <p:cNvSpPr txBox="1"/>
          <p:nvPr>
            <p:ph idx="1" type="subTitle"/>
          </p:nvPr>
        </p:nvSpPr>
        <p:spPr>
          <a:xfrm>
            <a:off x="133025" y="230822"/>
            <a:ext cx="4653900" cy="303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Existing Security Techniques</a:t>
            </a:r>
            <a:endParaRPr/>
          </a:p>
        </p:txBody>
      </p:sp>
      <p:sp>
        <p:nvSpPr>
          <p:cNvPr id="512" name="Google Shape;512;p64"/>
          <p:cNvSpPr txBox="1"/>
          <p:nvPr>
            <p:ph idx="3" type="title"/>
          </p:nvPr>
        </p:nvSpPr>
        <p:spPr>
          <a:xfrm>
            <a:off x="228600" y="457197"/>
            <a:ext cx="7224600" cy="1265100"/>
          </a:xfrm>
          <a:prstGeom prst="rect">
            <a:avLst/>
          </a:prstGeom>
        </p:spPr>
        <p:txBody>
          <a:bodyPr anchorCtr="0" anchor="t" bIns="0" lIns="0" spcFirstLastPara="1" rIns="0" wrap="square" tIns="0">
            <a:noAutofit/>
          </a:bodyPr>
          <a:lstStyle/>
          <a:p>
            <a:pPr indent="0" lvl="0" marL="0" rtl="0" algn="l">
              <a:lnSpc>
                <a:spcPct val="115000"/>
              </a:lnSpc>
              <a:spcBef>
                <a:spcPts val="1400"/>
              </a:spcBef>
              <a:spcAft>
                <a:spcPts val="0"/>
              </a:spcAft>
              <a:buClr>
                <a:schemeClr val="lt1"/>
              </a:buClr>
              <a:buSzPts val="1100"/>
              <a:buFont typeface="Arial"/>
              <a:buNone/>
            </a:pPr>
            <a:r>
              <a:rPr b="1" lang="en" sz="1300">
                <a:latin typeface="Arial"/>
                <a:ea typeface="Arial"/>
                <a:cs typeface="Arial"/>
                <a:sym typeface="Arial"/>
              </a:rPr>
              <a:t>Securing the Internet of Medical Things (IoMT)</a:t>
            </a:r>
            <a:endParaRPr b="1" sz="13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lang="en" sz="1100">
                <a:latin typeface="Arial"/>
                <a:ea typeface="Arial"/>
                <a:cs typeface="Arial"/>
                <a:sym typeface="Arial"/>
              </a:rPr>
              <a:t>Existing security techniques help protect connected medical devices, patient information, and hospital networks from cyber threats.</a:t>
            </a:r>
            <a:endParaRPr sz="11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1100">
                <a:latin typeface="Arial"/>
                <a:ea typeface="Arial"/>
                <a:cs typeface="Arial"/>
                <a:sym typeface="Arial"/>
              </a:rPr>
              <a:t>1. Data Encryption</a:t>
            </a:r>
            <a:r>
              <a:rPr lang="en" sz="1100">
                <a:latin typeface="Arial"/>
                <a:ea typeface="Arial"/>
                <a:cs typeface="Arial"/>
                <a:sym typeface="Arial"/>
              </a:rPr>
              <a:t> 🔐</a:t>
            </a:r>
            <a:br>
              <a:rPr lang="en" sz="1100">
                <a:latin typeface="Arial"/>
                <a:ea typeface="Arial"/>
                <a:cs typeface="Arial"/>
                <a:sym typeface="Arial"/>
              </a:rPr>
            </a:br>
            <a:r>
              <a:rPr lang="en" sz="1100">
                <a:latin typeface="Arial"/>
                <a:ea typeface="Arial"/>
                <a:cs typeface="Arial"/>
                <a:sym typeface="Arial"/>
              </a:rPr>
              <a:t> Protects sensitive medical information during transmission and storage, reducing the risk of unauthorized disclosure.</a:t>
            </a:r>
            <a:endParaRPr sz="11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1100">
                <a:latin typeface="Arial"/>
                <a:ea typeface="Arial"/>
                <a:cs typeface="Arial"/>
                <a:sym typeface="Arial"/>
              </a:rPr>
              <a:t>2. Authentication and Access Control</a:t>
            </a:r>
            <a:r>
              <a:rPr lang="en" sz="1100">
                <a:latin typeface="Arial"/>
                <a:ea typeface="Arial"/>
                <a:cs typeface="Arial"/>
                <a:sym typeface="Arial"/>
              </a:rPr>
              <a:t> 🔑</a:t>
            </a:r>
            <a:br>
              <a:rPr lang="en" sz="1100">
                <a:latin typeface="Arial"/>
                <a:ea typeface="Arial"/>
                <a:cs typeface="Arial"/>
                <a:sym typeface="Arial"/>
              </a:rPr>
            </a:br>
            <a:r>
              <a:rPr lang="en" sz="1100">
                <a:latin typeface="Arial"/>
                <a:ea typeface="Arial"/>
                <a:cs typeface="Arial"/>
                <a:sym typeface="Arial"/>
              </a:rPr>
              <a:t> Ensures that only authorized users and devices can access healthcare systems and medical information.</a:t>
            </a:r>
            <a:endParaRPr sz="11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1100">
                <a:latin typeface="Arial"/>
                <a:ea typeface="Arial"/>
                <a:cs typeface="Arial"/>
                <a:sym typeface="Arial"/>
              </a:rPr>
              <a:t>3. Network Segmentation</a:t>
            </a:r>
            <a:r>
              <a:rPr lang="en" sz="1100">
                <a:latin typeface="Arial"/>
                <a:ea typeface="Arial"/>
                <a:cs typeface="Arial"/>
                <a:sym typeface="Arial"/>
              </a:rPr>
              <a:t> 🌐</a:t>
            </a:r>
            <a:br>
              <a:rPr lang="en" sz="1100">
                <a:latin typeface="Arial"/>
                <a:ea typeface="Arial"/>
                <a:cs typeface="Arial"/>
                <a:sym typeface="Arial"/>
              </a:rPr>
            </a:br>
            <a:r>
              <a:rPr lang="en" sz="1100">
                <a:latin typeface="Arial"/>
                <a:ea typeface="Arial"/>
                <a:cs typeface="Arial"/>
                <a:sym typeface="Arial"/>
              </a:rPr>
              <a:t> Separates medical devices from guest Wi-Fi and other hospital networks to limit unauthorized access and the spread of attacks.</a:t>
            </a:r>
            <a:endParaRPr sz="11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1100">
                <a:latin typeface="Arial"/>
                <a:ea typeface="Arial"/>
                <a:cs typeface="Arial"/>
                <a:sym typeface="Arial"/>
              </a:rPr>
              <a:t>4. Intrusion Detection Systems (IDS)</a:t>
            </a:r>
            <a:r>
              <a:rPr lang="en" sz="1100">
                <a:latin typeface="Arial"/>
                <a:ea typeface="Arial"/>
                <a:cs typeface="Arial"/>
                <a:sym typeface="Arial"/>
              </a:rPr>
              <a:t> 🛡️</a:t>
            </a:r>
            <a:br>
              <a:rPr lang="en" sz="1100">
                <a:latin typeface="Arial"/>
                <a:ea typeface="Arial"/>
                <a:cs typeface="Arial"/>
                <a:sym typeface="Arial"/>
              </a:rPr>
            </a:br>
            <a:r>
              <a:rPr lang="en" sz="1100">
                <a:latin typeface="Arial"/>
                <a:ea typeface="Arial"/>
                <a:cs typeface="Arial"/>
                <a:sym typeface="Arial"/>
              </a:rPr>
              <a:t> Monitor network traffic and identify suspicious activities that may indicate cyberattacks.</a:t>
            </a:r>
            <a:endParaRPr sz="11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1100">
                <a:latin typeface="Arial"/>
                <a:ea typeface="Arial"/>
                <a:cs typeface="Arial"/>
                <a:sym typeface="Arial"/>
              </a:rPr>
              <a:t>5. Security Updates and Patch Management</a:t>
            </a:r>
            <a:r>
              <a:rPr lang="en" sz="1100">
                <a:latin typeface="Arial"/>
                <a:ea typeface="Arial"/>
                <a:cs typeface="Arial"/>
                <a:sym typeface="Arial"/>
              </a:rPr>
              <a:t> ⚙️</a:t>
            </a:r>
            <a:br>
              <a:rPr lang="en" sz="1100">
                <a:latin typeface="Arial"/>
                <a:ea typeface="Arial"/>
                <a:cs typeface="Arial"/>
                <a:sym typeface="Arial"/>
              </a:rPr>
            </a:br>
            <a:r>
              <a:rPr lang="en" sz="1100">
                <a:latin typeface="Arial"/>
                <a:ea typeface="Arial"/>
                <a:cs typeface="Arial"/>
                <a:sym typeface="Arial"/>
              </a:rPr>
              <a:t> Addresses known software and firmware vulnerabilities in connected medical devices and hospital systems.</a:t>
            </a:r>
            <a:endParaRPr sz="1100">
              <a:latin typeface="Arial"/>
              <a:ea typeface="Arial"/>
              <a:cs typeface="Arial"/>
              <a:sym typeface="Arial"/>
            </a:endParaRPr>
          </a:p>
          <a:p>
            <a:pPr indent="0" lvl="0" marL="0" rtl="0" algn="l">
              <a:lnSpc>
                <a:spcPct val="115000"/>
              </a:lnSpc>
              <a:spcBef>
                <a:spcPts val="1200"/>
              </a:spcBef>
              <a:spcAft>
                <a:spcPts val="1200"/>
              </a:spcAft>
              <a:buNone/>
            </a:pPr>
            <a:r>
              <a:rPr b="1" lang="en" sz="1100">
                <a:latin typeface="Arial"/>
                <a:ea typeface="Arial"/>
                <a:cs typeface="Arial"/>
                <a:sym typeface="Arial"/>
              </a:rPr>
              <a:t>6. Multi-Factor Authentication (MFA)</a:t>
            </a:r>
            <a:r>
              <a:rPr lang="en" sz="1100">
                <a:latin typeface="Arial"/>
                <a:ea typeface="Arial"/>
                <a:cs typeface="Arial"/>
                <a:sym typeface="Arial"/>
              </a:rPr>
              <a:t> 👤</a:t>
            </a:r>
            <a:br>
              <a:rPr lang="en" sz="1100">
                <a:latin typeface="Arial"/>
                <a:ea typeface="Arial"/>
                <a:cs typeface="Arial"/>
                <a:sym typeface="Arial"/>
              </a:rPr>
            </a:br>
            <a:r>
              <a:rPr lang="en" sz="1100">
                <a:latin typeface="Arial"/>
                <a:ea typeface="Arial"/>
                <a:cs typeface="Arial"/>
                <a:sym typeface="Arial"/>
              </a:rPr>
              <a:t> Adds additional verification when authorized personnel access sensitive healthcare applications and administrative systems.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5"/>
          <p:cNvSpPr txBox="1"/>
          <p:nvPr>
            <p:ph idx="4294967295"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18" name="Google Shape;518;p65"/>
          <p:cNvSpPr txBox="1"/>
          <p:nvPr>
            <p:ph idx="2" type="title"/>
          </p:nvPr>
        </p:nvSpPr>
        <p:spPr>
          <a:xfrm>
            <a:off x="188150" y="224850"/>
            <a:ext cx="34326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Proposed Approach</a:t>
            </a:r>
            <a:endParaRPr/>
          </a:p>
        </p:txBody>
      </p:sp>
      <p:pic>
        <p:nvPicPr>
          <p:cNvPr id="519" name="Google Shape;519;p65"/>
          <p:cNvPicPr preferRelativeResize="0"/>
          <p:nvPr/>
        </p:nvPicPr>
        <p:blipFill>
          <a:blip r:embed="rId3">
            <a:alphaModFix/>
          </a:blip>
          <a:stretch>
            <a:fillRect/>
          </a:stretch>
        </p:blipFill>
        <p:spPr>
          <a:xfrm>
            <a:off x="5397400" y="304450"/>
            <a:ext cx="3071916" cy="4607873"/>
          </a:xfrm>
          <a:prstGeom prst="rect">
            <a:avLst/>
          </a:prstGeom>
          <a:noFill/>
          <a:ln>
            <a:noFill/>
          </a:ln>
        </p:spPr>
      </p:pic>
      <p:sp>
        <p:nvSpPr>
          <p:cNvPr id="520" name="Google Shape;520;p65"/>
          <p:cNvSpPr txBox="1"/>
          <p:nvPr/>
        </p:nvSpPr>
        <p:spPr>
          <a:xfrm>
            <a:off x="269025" y="582550"/>
            <a:ext cx="5008200" cy="427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Proposed IoMT Cybersecurity Framework</a:t>
            </a:r>
            <a:endParaRPr b="1" sz="1300">
              <a:solidFill>
                <a:schemeClr val="dk1"/>
              </a:solidFill>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latin typeface="Urbanist"/>
                <a:ea typeface="Urbanist"/>
                <a:cs typeface="Urbanist"/>
                <a:sym typeface="Urbanist"/>
              </a:rPr>
              <a:t>The proposed approach uses a layered security framework to protect connected medical devices, pacemakers, patient information, and hospital networks from cybersecurity threats.</a:t>
            </a:r>
            <a:endParaRPr sz="1100">
              <a:solidFill>
                <a:schemeClr val="dk1"/>
              </a:solidFill>
              <a:latin typeface="Urbanist"/>
              <a:ea typeface="Urbanist"/>
              <a:cs typeface="Urbanist"/>
              <a:sym typeface="Urbanist"/>
            </a:endParaRPr>
          </a:p>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Key Components</a:t>
            </a:r>
            <a:endParaRPr b="1" sz="1300">
              <a:solidFill>
                <a:schemeClr val="dk1"/>
              </a:solidFill>
              <a:latin typeface="Urbanist"/>
              <a:ea typeface="Urbanist"/>
              <a:cs typeface="Urbanist"/>
              <a:sym typeface="Urbanist"/>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Urbanist"/>
                <a:ea typeface="Urbanist"/>
                <a:cs typeface="Urbanist"/>
                <a:sym typeface="Urbanist"/>
              </a:rPr>
              <a:t>Device Identification:</a:t>
            </a:r>
            <a:r>
              <a:rPr lang="en" sz="1100">
                <a:solidFill>
                  <a:schemeClr val="dk1"/>
                </a:solidFill>
                <a:latin typeface="Urbanist"/>
                <a:ea typeface="Urbanist"/>
                <a:cs typeface="Urbanist"/>
                <a:sym typeface="Urbanist"/>
              </a:rPr>
              <a:t> Identify connected medical devices and monitor their network access.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Urbanist"/>
                <a:ea typeface="Urbanist"/>
                <a:cs typeface="Urbanist"/>
                <a:sym typeface="Urbanist"/>
              </a:rPr>
              <a:t>Authentication &amp; Access:</a:t>
            </a:r>
            <a:r>
              <a:rPr lang="en" sz="1100">
                <a:solidFill>
                  <a:schemeClr val="dk1"/>
                </a:solidFill>
                <a:latin typeface="Urbanist"/>
                <a:ea typeface="Urbanist"/>
                <a:cs typeface="Urbanist"/>
                <a:sym typeface="Urbanist"/>
              </a:rPr>
              <a:t> Restrict access to authorized users and devices.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Urbanist"/>
                <a:ea typeface="Urbanist"/>
                <a:cs typeface="Urbanist"/>
                <a:sym typeface="Urbanist"/>
              </a:rPr>
              <a:t>Secure Communication:</a:t>
            </a:r>
            <a:r>
              <a:rPr lang="en" sz="1100">
                <a:solidFill>
                  <a:schemeClr val="dk1"/>
                </a:solidFill>
                <a:latin typeface="Urbanist"/>
                <a:ea typeface="Urbanist"/>
                <a:cs typeface="Urbanist"/>
                <a:sym typeface="Urbanist"/>
              </a:rPr>
              <a:t> Use encryption to protect sensitive medical information.</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Urbanist"/>
                <a:ea typeface="Urbanist"/>
                <a:cs typeface="Urbanist"/>
                <a:sym typeface="Urbanist"/>
              </a:rPr>
              <a:t>Network Security:</a:t>
            </a:r>
            <a:r>
              <a:rPr lang="en" sz="1100">
                <a:solidFill>
                  <a:schemeClr val="dk1"/>
                </a:solidFill>
                <a:latin typeface="Urbanist"/>
                <a:ea typeface="Urbanist"/>
                <a:cs typeface="Urbanist"/>
                <a:sym typeface="Urbanist"/>
              </a:rPr>
              <a:t> Separate medical devices from unrelated hospital network segments.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Urbanist"/>
                <a:ea typeface="Urbanist"/>
                <a:cs typeface="Urbanist"/>
                <a:sym typeface="Urbanist"/>
              </a:rPr>
              <a:t>Continuous Monitoring:</a:t>
            </a:r>
            <a:r>
              <a:rPr lang="en" sz="1100">
                <a:solidFill>
                  <a:schemeClr val="dk1"/>
                </a:solidFill>
                <a:latin typeface="Urbanist"/>
                <a:ea typeface="Urbanist"/>
                <a:cs typeface="Urbanist"/>
                <a:sym typeface="Urbanist"/>
              </a:rPr>
              <a:t> Monitor network traffic and security logs for suspicious activity.</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Urbanist"/>
                <a:ea typeface="Urbanist"/>
                <a:cs typeface="Urbanist"/>
                <a:sym typeface="Urbanist"/>
              </a:rPr>
              <a:t>Threat Detection:</a:t>
            </a:r>
            <a:r>
              <a:rPr lang="en" sz="1100">
                <a:solidFill>
                  <a:schemeClr val="dk1"/>
                </a:solidFill>
                <a:latin typeface="Urbanist"/>
                <a:ea typeface="Urbanist"/>
                <a:cs typeface="Urbanist"/>
                <a:sym typeface="Urbanist"/>
              </a:rPr>
              <a:t> Identify potential cyberattacks and abnormal device behaviour.</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Urbanist"/>
                <a:ea typeface="Urbanist"/>
                <a:cs typeface="Urbanist"/>
                <a:sym typeface="Urbanist"/>
              </a:rPr>
              <a:t>Incident Response:</a:t>
            </a:r>
            <a:r>
              <a:rPr lang="en" sz="1100">
                <a:solidFill>
                  <a:schemeClr val="dk1"/>
                </a:solidFill>
                <a:latin typeface="Urbanist"/>
                <a:ea typeface="Urbanist"/>
                <a:cs typeface="Urbanist"/>
                <a:sym typeface="Urbanist"/>
              </a:rPr>
              <a:t> Investigate threats and respond without unnecessarily disrupting essential medical services.</a:t>
            </a:r>
            <a:endParaRPr sz="1100">
              <a:solidFill>
                <a:schemeClr val="dk1"/>
              </a:solidFill>
              <a:latin typeface="Urbanist"/>
              <a:ea typeface="Urbanist"/>
              <a:cs typeface="Urbanist"/>
              <a:sym typeface="Urbanist"/>
            </a:endParaRPr>
          </a:p>
          <a:p>
            <a:pPr indent="0" lvl="0" marL="0" rtl="0" algn="l">
              <a:spcBef>
                <a:spcPts val="1200"/>
              </a:spcBef>
              <a:spcAft>
                <a:spcPts val="0"/>
              </a:spcAft>
              <a:buNone/>
            </a:pPr>
            <a:r>
              <a:t/>
            </a:r>
            <a:endParaRPr sz="1200">
              <a:solidFill>
                <a:schemeClr val="dk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26" name="Google Shape;526;p66"/>
          <p:cNvSpPr txBox="1"/>
          <p:nvPr>
            <p:ph idx="3" type="title"/>
          </p:nvPr>
        </p:nvSpPr>
        <p:spPr>
          <a:xfrm>
            <a:off x="187500" y="-3750"/>
            <a:ext cx="2925900" cy="464700"/>
          </a:xfrm>
          <a:prstGeom prst="rect">
            <a:avLst/>
          </a:prstGeom>
        </p:spPr>
        <p:txBody>
          <a:bodyPr anchorCtr="0" anchor="t" bIns="0" lIns="0" spcFirstLastPara="1" rIns="0" wrap="square" tIns="0">
            <a:noAutofit/>
          </a:bodyPr>
          <a:lstStyle/>
          <a:p>
            <a:pPr indent="0" lvl="0" marL="0" rtl="0" algn="l">
              <a:spcBef>
                <a:spcPts val="1800"/>
              </a:spcBef>
              <a:spcAft>
                <a:spcPts val="0"/>
              </a:spcAft>
              <a:buClr>
                <a:schemeClr val="lt1"/>
              </a:buClr>
              <a:buSzPts val="1100"/>
              <a:buFont typeface="Arial"/>
              <a:buNone/>
            </a:pPr>
            <a:r>
              <a:rPr b="1" lang="en" sz="1700">
                <a:latin typeface="Arial"/>
                <a:ea typeface="Arial"/>
                <a:cs typeface="Arial"/>
                <a:sym typeface="Arial"/>
              </a:rPr>
              <a:t>Tools and Technologies</a:t>
            </a:r>
            <a:endParaRPr b="1" sz="1700">
              <a:latin typeface="Arial"/>
              <a:ea typeface="Arial"/>
              <a:cs typeface="Arial"/>
              <a:sym typeface="Arial"/>
            </a:endParaRPr>
          </a:p>
          <a:p>
            <a:pPr indent="0" lvl="0" marL="0" rtl="0" algn="l">
              <a:spcBef>
                <a:spcPts val="400"/>
              </a:spcBef>
              <a:spcAft>
                <a:spcPts val="0"/>
              </a:spcAft>
              <a:buNone/>
            </a:pPr>
            <a:r>
              <a:t/>
            </a:r>
            <a:endParaRPr/>
          </a:p>
        </p:txBody>
      </p:sp>
      <p:sp>
        <p:nvSpPr>
          <p:cNvPr id="527" name="Google Shape;527;p66"/>
          <p:cNvSpPr txBox="1"/>
          <p:nvPr>
            <p:ph idx="1" type="subTitle"/>
          </p:nvPr>
        </p:nvSpPr>
        <p:spPr>
          <a:xfrm>
            <a:off x="228600" y="558025"/>
            <a:ext cx="8078700" cy="4571400"/>
          </a:xfrm>
          <a:prstGeom prst="rect">
            <a:avLst/>
          </a:prstGeom>
        </p:spPr>
        <p:txBody>
          <a:bodyPr anchorCtr="0" anchor="t" bIns="0" lIns="0" spcFirstLastPara="1" rIns="0" wrap="square" tIns="0">
            <a:spAutoFit/>
          </a:bodyPr>
          <a:lstStyle/>
          <a:p>
            <a:pPr indent="0" lvl="0" marL="0" rtl="0" algn="l">
              <a:lnSpc>
                <a:spcPct val="115000"/>
              </a:lnSpc>
              <a:spcBef>
                <a:spcPts val="1400"/>
              </a:spcBef>
              <a:spcAft>
                <a:spcPts val="0"/>
              </a:spcAft>
              <a:buClr>
                <a:schemeClr val="lt1"/>
              </a:buClr>
              <a:buSzPts val="1100"/>
              <a:buFont typeface="Arial"/>
              <a:buNone/>
            </a:pPr>
            <a:r>
              <a:rPr b="1" lang="en" sz="1000">
                <a:latin typeface="Urbanist"/>
                <a:ea typeface="Urbanist"/>
                <a:cs typeface="Urbanist"/>
                <a:sym typeface="Urbanist"/>
              </a:rPr>
              <a:t>Securing the Internet of Medical Things (IoMT)</a:t>
            </a:r>
            <a:endParaRPr b="1" sz="1000">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b="1" lang="en" sz="1000">
                <a:latin typeface="Urbanist"/>
                <a:ea typeface="Urbanist"/>
                <a:cs typeface="Urbanist"/>
                <a:sym typeface="Urbanist"/>
              </a:rPr>
              <a:t>1. Wireshark — Network Traffic Analysis</a:t>
            </a:r>
            <a:br>
              <a:rPr b="1" lang="en" sz="1000">
                <a:latin typeface="Urbanist"/>
                <a:ea typeface="Urbanist"/>
                <a:cs typeface="Urbanist"/>
                <a:sym typeface="Urbanist"/>
              </a:rPr>
            </a:br>
            <a:r>
              <a:rPr lang="en" sz="1000">
                <a:latin typeface="Urbanist"/>
                <a:ea typeface="Urbanist"/>
                <a:cs typeface="Urbanist"/>
                <a:sym typeface="Urbanist"/>
              </a:rPr>
              <a:t> Analyses network packets to identify communication patterns and investigate suspicious network activity.</a:t>
            </a:r>
            <a:endParaRPr sz="1000">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b="1" lang="en" sz="1000">
                <a:latin typeface="Urbanist"/>
                <a:ea typeface="Urbanist"/>
                <a:cs typeface="Urbanist"/>
                <a:sym typeface="Urbanist"/>
              </a:rPr>
              <a:t>2. Nmap — Network Discovery</a:t>
            </a:r>
            <a:br>
              <a:rPr b="1" lang="en" sz="1000">
                <a:latin typeface="Urbanist"/>
                <a:ea typeface="Urbanist"/>
                <a:cs typeface="Urbanist"/>
                <a:sym typeface="Urbanist"/>
              </a:rPr>
            </a:br>
            <a:r>
              <a:rPr lang="en" sz="1000">
                <a:latin typeface="Urbanist"/>
                <a:ea typeface="Urbanist"/>
                <a:cs typeface="Urbanist"/>
                <a:sym typeface="Urbanist"/>
              </a:rPr>
              <a:t> Identifies devices and services on authorized test networks to help assess network exposure.</a:t>
            </a:r>
            <a:endParaRPr sz="1000">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b="1" lang="en" sz="1000">
                <a:latin typeface="Urbanist"/>
                <a:ea typeface="Urbanist"/>
                <a:cs typeface="Urbanist"/>
                <a:sym typeface="Urbanist"/>
              </a:rPr>
              <a:t>3. Suricata — Intrusion Detection</a:t>
            </a:r>
            <a:br>
              <a:rPr b="1" lang="en" sz="1000">
                <a:latin typeface="Urbanist"/>
                <a:ea typeface="Urbanist"/>
                <a:cs typeface="Urbanist"/>
                <a:sym typeface="Urbanist"/>
              </a:rPr>
            </a:br>
            <a:r>
              <a:rPr lang="en" sz="1000">
                <a:latin typeface="Urbanist"/>
                <a:ea typeface="Urbanist"/>
                <a:cs typeface="Urbanist"/>
                <a:sym typeface="Urbanist"/>
              </a:rPr>
              <a:t> Detects suspicious network traffic using security rules and protocol analysis.</a:t>
            </a:r>
            <a:endParaRPr sz="1000">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b="1" lang="en" sz="1000">
                <a:latin typeface="Urbanist"/>
                <a:ea typeface="Urbanist"/>
                <a:cs typeface="Urbanist"/>
                <a:sym typeface="Urbanist"/>
              </a:rPr>
              <a:t>4. Wazuh — Security Monitoring</a:t>
            </a:r>
            <a:br>
              <a:rPr b="1" lang="en" sz="1000">
                <a:latin typeface="Urbanist"/>
                <a:ea typeface="Urbanist"/>
                <a:cs typeface="Urbanist"/>
                <a:sym typeface="Urbanist"/>
              </a:rPr>
            </a:br>
            <a:r>
              <a:rPr lang="en" sz="1000">
                <a:latin typeface="Urbanist"/>
                <a:ea typeface="Urbanist"/>
                <a:cs typeface="Urbanist"/>
                <a:sym typeface="Urbanist"/>
              </a:rPr>
              <a:t> Collects and analyses available security logs to identify potential threats and suspicious events.</a:t>
            </a:r>
            <a:endParaRPr sz="1000">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b="1" lang="en" sz="1000">
                <a:latin typeface="Urbanist"/>
                <a:ea typeface="Urbanist"/>
                <a:cs typeface="Urbanist"/>
                <a:sym typeface="Urbanist"/>
              </a:rPr>
              <a:t>5. Python — Security Automation</a:t>
            </a:r>
            <a:br>
              <a:rPr b="1" lang="en" sz="1000">
                <a:latin typeface="Urbanist"/>
                <a:ea typeface="Urbanist"/>
                <a:cs typeface="Urbanist"/>
                <a:sym typeface="Urbanist"/>
              </a:rPr>
            </a:br>
            <a:r>
              <a:rPr lang="en" sz="1000">
                <a:latin typeface="Urbanist"/>
                <a:ea typeface="Urbanist"/>
                <a:cs typeface="Urbanist"/>
                <a:sym typeface="Urbanist"/>
              </a:rPr>
              <a:t> Supports the development of prototypes for log analysis, threat detection, and anomaly identification.</a:t>
            </a:r>
            <a:endParaRPr sz="1000">
              <a:latin typeface="Urbanist"/>
              <a:ea typeface="Urbanist"/>
              <a:cs typeface="Urbanist"/>
              <a:sym typeface="Urbanist"/>
            </a:endParaRPr>
          </a:p>
          <a:p>
            <a:pPr indent="0" lvl="0" marL="0" rtl="0" algn="l">
              <a:lnSpc>
                <a:spcPct val="115000"/>
              </a:lnSpc>
              <a:spcBef>
                <a:spcPts val="1200"/>
              </a:spcBef>
              <a:spcAft>
                <a:spcPts val="0"/>
              </a:spcAft>
              <a:buNone/>
            </a:pPr>
            <a:r>
              <a:rPr b="1" lang="en" sz="1000">
                <a:latin typeface="Urbanist"/>
                <a:ea typeface="Urbanist"/>
                <a:cs typeface="Urbanist"/>
                <a:sym typeface="Urbanist"/>
              </a:rPr>
              <a:t>6. OpenSSL — Cryptographic Testing</a:t>
            </a:r>
            <a:br>
              <a:rPr b="1" lang="en" sz="1000">
                <a:latin typeface="Urbanist"/>
                <a:ea typeface="Urbanist"/>
                <a:cs typeface="Urbanist"/>
                <a:sym typeface="Urbanist"/>
              </a:rPr>
            </a:br>
            <a:r>
              <a:rPr lang="en" sz="1000">
                <a:latin typeface="Urbanist"/>
                <a:ea typeface="Urbanist"/>
                <a:cs typeface="Urbanist"/>
                <a:sym typeface="Urbanist"/>
              </a:rPr>
              <a:t> Demonstrates cryptographic operations and helps test secure communication configurations.</a:t>
            </a:r>
            <a:endParaRPr sz="1000">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b="1" lang="en" sz="1000">
                <a:latin typeface="Urbanist"/>
                <a:ea typeface="Urbanist"/>
                <a:cs typeface="Urbanist"/>
                <a:sym typeface="Urbanist"/>
              </a:rPr>
              <a:t>Important Technologies</a:t>
            </a:r>
            <a:endParaRPr b="1" sz="1000">
              <a:latin typeface="Urbanist"/>
              <a:ea typeface="Urbanist"/>
              <a:cs typeface="Urbanist"/>
              <a:sym typeface="Urbanist"/>
            </a:endParaRPr>
          </a:p>
          <a:p>
            <a:pPr indent="-292100" lvl="0" marL="457200" rtl="0" algn="l">
              <a:lnSpc>
                <a:spcPct val="115000"/>
              </a:lnSpc>
              <a:spcBef>
                <a:spcPts val="1200"/>
              </a:spcBef>
              <a:spcAft>
                <a:spcPts val="0"/>
              </a:spcAft>
              <a:buClr>
                <a:schemeClr val="dk1"/>
              </a:buClr>
              <a:buSzPts val="1000"/>
              <a:buChar char="●"/>
            </a:pPr>
            <a:r>
              <a:rPr b="1" lang="en" sz="1000">
                <a:latin typeface="Urbanist"/>
                <a:ea typeface="Urbanist"/>
                <a:cs typeface="Urbanist"/>
                <a:sym typeface="Urbanist"/>
              </a:rPr>
              <a:t>Encryption:</a:t>
            </a:r>
            <a:r>
              <a:rPr lang="en" sz="1000">
                <a:latin typeface="Urbanist"/>
                <a:ea typeface="Urbanist"/>
                <a:cs typeface="Urbanist"/>
                <a:sym typeface="Urbanist"/>
              </a:rPr>
              <a:t> Protects sensitive medical data.</a:t>
            </a:r>
            <a:endParaRPr sz="1000">
              <a:latin typeface="Urbanist"/>
              <a:ea typeface="Urbanist"/>
              <a:cs typeface="Urbanist"/>
              <a:sym typeface="Urbanist"/>
            </a:endParaRPr>
          </a:p>
          <a:p>
            <a:pPr indent="-292100" lvl="0" marL="457200" rtl="0" algn="l">
              <a:lnSpc>
                <a:spcPct val="115000"/>
              </a:lnSpc>
              <a:spcBef>
                <a:spcPts val="0"/>
              </a:spcBef>
              <a:spcAft>
                <a:spcPts val="0"/>
              </a:spcAft>
              <a:buClr>
                <a:schemeClr val="dk1"/>
              </a:buClr>
              <a:buSzPts val="1000"/>
              <a:buChar char="●"/>
            </a:pPr>
            <a:r>
              <a:rPr b="1" lang="en" sz="1000">
                <a:latin typeface="Urbanist"/>
                <a:ea typeface="Urbanist"/>
                <a:cs typeface="Urbanist"/>
                <a:sym typeface="Urbanist"/>
              </a:rPr>
              <a:t>Authentication:</a:t>
            </a:r>
            <a:r>
              <a:rPr lang="en" sz="1000">
                <a:latin typeface="Urbanist"/>
                <a:ea typeface="Urbanist"/>
                <a:cs typeface="Urbanist"/>
                <a:sym typeface="Urbanist"/>
              </a:rPr>
              <a:t> Verifies users and devices.</a:t>
            </a:r>
            <a:endParaRPr sz="1000">
              <a:latin typeface="Urbanist"/>
              <a:ea typeface="Urbanist"/>
              <a:cs typeface="Urbanist"/>
              <a:sym typeface="Urbanist"/>
            </a:endParaRPr>
          </a:p>
          <a:p>
            <a:pPr indent="-292100" lvl="0" marL="457200" rtl="0" algn="l">
              <a:lnSpc>
                <a:spcPct val="115000"/>
              </a:lnSpc>
              <a:spcBef>
                <a:spcPts val="0"/>
              </a:spcBef>
              <a:spcAft>
                <a:spcPts val="0"/>
              </a:spcAft>
              <a:buClr>
                <a:schemeClr val="dk1"/>
              </a:buClr>
              <a:buSzPts val="1000"/>
              <a:buChar char="●"/>
            </a:pPr>
            <a:r>
              <a:rPr b="1" lang="en" sz="1000">
                <a:latin typeface="Urbanist"/>
                <a:ea typeface="Urbanist"/>
                <a:cs typeface="Urbanist"/>
                <a:sym typeface="Urbanist"/>
              </a:rPr>
              <a:t>Network Segmentation:</a:t>
            </a:r>
            <a:r>
              <a:rPr lang="en" sz="1000">
                <a:latin typeface="Urbanist"/>
                <a:ea typeface="Urbanist"/>
                <a:cs typeface="Urbanist"/>
                <a:sym typeface="Urbanist"/>
              </a:rPr>
              <a:t> Isolates medical devices from unrelated network traffic.</a:t>
            </a:r>
            <a:endParaRPr sz="1000">
              <a:latin typeface="Urbanist"/>
              <a:ea typeface="Urbanist"/>
              <a:cs typeface="Urbanist"/>
              <a:sym typeface="Urbanist"/>
            </a:endParaRPr>
          </a:p>
          <a:p>
            <a:pPr indent="-292100" lvl="0" marL="457200" rtl="0" algn="l">
              <a:lnSpc>
                <a:spcPct val="115000"/>
              </a:lnSpc>
              <a:spcBef>
                <a:spcPts val="0"/>
              </a:spcBef>
              <a:spcAft>
                <a:spcPts val="0"/>
              </a:spcAft>
              <a:buClr>
                <a:schemeClr val="dk1"/>
              </a:buClr>
              <a:buSzPts val="1000"/>
              <a:buChar char="●"/>
            </a:pPr>
            <a:r>
              <a:rPr b="1" lang="en" sz="1000">
                <a:latin typeface="Urbanist"/>
                <a:ea typeface="Urbanist"/>
                <a:cs typeface="Urbanist"/>
                <a:sym typeface="Urbanist"/>
              </a:rPr>
              <a:t>IDS/IPS:</a:t>
            </a:r>
            <a:r>
              <a:rPr lang="en" sz="1000">
                <a:latin typeface="Urbanist"/>
                <a:ea typeface="Urbanist"/>
                <a:cs typeface="Urbanist"/>
                <a:sym typeface="Urbanist"/>
              </a:rPr>
              <a:t> Detects and, where appropriate, blocks suspicious activity.</a:t>
            </a:r>
            <a:endParaRPr sz="1000">
              <a:latin typeface="Urbanist"/>
              <a:ea typeface="Urbanist"/>
              <a:cs typeface="Urbanist"/>
              <a:sym typeface="Urbanist"/>
            </a:endParaRPr>
          </a:p>
          <a:p>
            <a:pPr indent="-292100" lvl="0" marL="457200" rtl="0" algn="l">
              <a:lnSpc>
                <a:spcPct val="115000"/>
              </a:lnSpc>
              <a:spcBef>
                <a:spcPts val="0"/>
              </a:spcBef>
              <a:spcAft>
                <a:spcPts val="0"/>
              </a:spcAft>
              <a:buClr>
                <a:schemeClr val="dk1"/>
              </a:buClr>
              <a:buSzPts val="1000"/>
              <a:buChar char="●"/>
            </a:pPr>
            <a:r>
              <a:rPr b="1" lang="en" sz="1000">
                <a:latin typeface="Urbanist"/>
                <a:ea typeface="Urbanist"/>
                <a:cs typeface="Urbanist"/>
                <a:sym typeface="Urbanist"/>
              </a:rPr>
              <a:t>SIEM:</a:t>
            </a:r>
            <a:r>
              <a:rPr lang="en" sz="1000">
                <a:latin typeface="Urbanist"/>
                <a:ea typeface="Urbanist"/>
                <a:cs typeface="Urbanist"/>
                <a:sym typeface="Urbanist"/>
              </a:rPr>
              <a:t> Collects and correlates security events.</a:t>
            </a:r>
            <a:endParaRPr sz="1000">
              <a:latin typeface="Urbanist"/>
              <a:ea typeface="Urbanist"/>
              <a:cs typeface="Urbanist"/>
              <a:sym typeface="Urbanis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7"/>
          <p:cNvSpPr txBox="1"/>
          <p:nvPr>
            <p:ph idx="2" type="title"/>
          </p:nvPr>
        </p:nvSpPr>
        <p:spPr>
          <a:xfrm>
            <a:off x="6414900" y="56400"/>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33" name="Google Shape;533;p67"/>
          <p:cNvSpPr txBox="1"/>
          <p:nvPr>
            <p:ph idx="3" type="title"/>
          </p:nvPr>
        </p:nvSpPr>
        <p:spPr>
          <a:xfrm>
            <a:off x="196250" y="182225"/>
            <a:ext cx="45510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Challenges and Implications</a:t>
            </a:r>
            <a:endParaRPr/>
          </a:p>
        </p:txBody>
      </p:sp>
      <p:sp>
        <p:nvSpPr>
          <p:cNvPr id="534" name="Google Shape;534;p67"/>
          <p:cNvSpPr txBox="1"/>
          <p:nvPr>
            <p:ph idx="1" type="subTitle"/>
          </p:nvPr>
        </p:nvSpPr>
        <p:spPr>
          <a:xfrm>
            <a:off x="228600" y="646925"/>
            <a:ext cx="8277600" cy="4790100"/>
          </a:xfrm>
          <a:prstGeom prst="rect">
            <a:avLst/>
          </a:prstGeom>
        </p:spPr>
        <p:txBody>
          <a:bodyPr anchorCtr="0" anchor="t" bIns="0" lIns="0" spcFirstLastPara="1" rIns="0" wrap="square" tIns="0">
            <a:spAutoFit/>
          </a:bodyPr>
          <a:lstStyle/>
          <a:p>
            <a:pPr indent="0" lvl="0" marL="0" rtl="0" algn="l">
              <a:lnSpc>
                <a:spcPct val="115000"/>
              </a:lnSpc>
              <a:spcBef>
                <a:spcPts val="1400"/>
              </a:spcBef>
              <a:spcAft>
                <a:spcPts val="0"/>
              </a:spcAft>
              <a:buClr>
                <a:schemeClr val="lt1"/>
              </a:buClr>
              <a:buSzPts val="1100"/>
              <a:buFont typeface="Arial"/>
              <a:buNone/>
            </a:pPr>
            <a:r>
              <a:rPr b="1" lang="en" sz="800">
                <a:latin typeface="Arial"/>
                <a:ea typeface="Arial"/>
                <a:cs typeface="Arial"/>
                <a:sym typeface="Arial"/>
              </a:rPr>
              <a:t>Cybersecurity Risks in Connected Healthcare</a:t>
            </a:r>
            <a:endParaRPr b="1" sz="8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800">
                <a:latin typeface="Arial"/>
                <a:ea typeface="Arial"/>
                <a:cs typeface="Arial"/>
                <a:sym typeface="Arial"/>
              </a:rPr>
              <a:t>1. Pacemaker Security Risks</a:t>
            </a:r>
            <a:endParaRPr b="1" sz="800">
              <a:latin typeface="Arial"/>
              <a:ea typeface="Arial"/>
              <a:cs typeface="Arial"/>
              <a:sym typeface="Arial"/>
            </a:endParaRPr>
          </a:p>
          <a:p>
            <a:pPr indent="-279400" lvl="0" marL="457200" rtl="0" algn="l">
              <a:lnSpc>
                <a:spcPct val="115000"/>
              </a:lnSpc>
              <a:spcBef>
                <a:spcPts val="1200"/>
              </a:spcBef>
              <a:spcAft>
                <a:spcPts val="0"/>
              </a:spcAft>
              <a:buClr>
                <a:schemeClr val="dk1"/>
              </a:buClr>
              <a:buSzPts val="800"/>
              <a:buChar char="●"/>
            </a:pPr>
            <a:r>
              <a:rPr lang="en" sz="800">
                <a:latin typeface="Arial"/>
                <a:ea typeface="Arial"/>
                <a:cs typeface="Arial"/>
                <a:sym typeface="Arial"/>
              </a:rPr>
              <a:t>Unauthorized access to connected cardiac devices or their communication systems.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Potential interference with device monitoring or configuration.</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Requires strong security controls that preserve patient safety.</a:t>
            </a:r>
            <a:endParaRPr sz="8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800">
                <a:latin typeface="Arial"/>
                <a:ea typeface="Arial"/>
                <a:cs typeface="Arial"/>
                <a:sym typeface="Arial"/>
              </a:rPr>
              <a:t>2. Patient Data Breaches</a:t>
            </a:r>
            <a:endParaRPr b="1" sz="800">
              <a:latin typeface="Arial"/>
              <a:ea typeface="Arial"/>
              <a:cs typeface="Arial"/>
              <a:sym typeface="Arial"/>
            </a:endParaRPr>
          </a:p>
          <a:p>
            <a:pPr indent="-279400" lvl="0" marL="457200" rtl="0" algn="l">
              <a:lnSpc>
                <a:spcPct val="115000"/>
              </a:lnSpc>
              <a:spcBef>
                <a:spcPts val="1200"/>
              </a:spcBef>
              <a:spcAft>
                <a:spcPts val="0"/>
              </a:spcAft>
              <a:buClr>
                <a:schemeClr val="dk1"/>
              </a:buClr>
              <a:buSzPts val="800"/>
              <a:buChar char="●"/>
            </a:pPr>
            <a:r>
              <a:rPr lang="en" sz="800">
                <a:latin typeface="Arial"/>
                <a:ea typeface="Arial"/>
                <a:cs typeface="Arial"/>
                <a:sym typeface="Arial"/>
              </a:rPr>
              <a:t>Theft or exposure of confidential medical records.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Unauthorized access to personal and health information.</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Risks to patient privacy and data integrity.</a:t>
            </a:r>
            <a:endParaRPr sz="8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800">
                <a:latin typeface="Arial"/>
                <a:ea typeface="Arial"/>
                <a:cs typeface="Arial"/>
                <a:sym typeface="Arial"/>
              </a:rPr>
              <a:t>3. Hospital Network Attacks</a:t>
            </a:r>
            <a:endParaRPr b="1" sz="800">
              <a:latin typeface="Arial"/>
              <a:ea typeface="Arial"/>
              <a:cs typeface="Arial"/>
              <a:sym typeface="Arial"/>
            </a:endParaRPr>
          </a:p>
          <a:p>
            <a:pPr indent="-279400" lvl="0" marL="457200" rtl="0" algn="l">
              <a:lnSpc>
                <a:spcPct val="115000"/>
              </a:lnSpc>
              <a:spcBef>
                <a:spcPts val="1200"/>
              </a:spcBef>
              <a:spcAft>
                <a:spcPts val="0"/>
              </a:spcAft>
              <a:buClr>
                <a:schemeClr val="dk1"/>
              </a:buClr>
              <a:buSzPts val="800"/>
              <a:buChar char="●"/>
            </a:pPr>
            <a:r>
              <a:rPr lang="en" sz="800">
                <a:latin typeface="Arial"/>
                <a:ea typeface="Arial"/>
                <a:cs typeface="Arial"/>
                <a:sym typeface="Arial"/>
              </a:rPr>
              <a:t>Ransomware and malware infections.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Disruption of hospital systems and medical services.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Unauthorized access to connected medical equipment.</a:t>
            </a:r>
            <a:endParaRPr sz="8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800">
                <a:latin typeface="Arial"/>
                <a:ea typeface="Arial"/>
                <a:cs typeface="Arial"/>
                <a:sym typeface="Arial"/>
              </a:rPr>
              <a:t>4. Vulnerable Medical Devices</a:t>
            </a:r>
            <a:endParaRPr b="1" sz="800">
              <a:latin typeface="Arial"/>
              <a:ea typeface="Arial"/>
              <a:cs typeface="Arial"/>
              <a:sym typeface="Arial"/>
            </a:endParaRPr>
          </a:p>
          <a:p>
            <a:pPr indent="-279400" lvl="0" marL="457200" rtl="0" algn="l">
              <a:lnSpc>
                <a:spcPct val="115000"/>
              </a:lnSpc>
              <a:spcBef>
                <a:spcPts val="1200"/>
              </a:spcBef>
              <a:spcAft>
                <a:spcPts val="0"/>
              </a:spcAft>
              <a:buClr>
                <a:schemeClr val="dk1"/>
              </a:buClr>
              <a:buSzPts val="800"/>
              <a:buChar char="●"/>
            </a:pPr>
            <a:r>
              <a:rPr lang="en" sz="800">
                <a:latin typeface="Arial"/>
                <a:ea typeface="Arial"/>
                <a:cs typeface="Arial"/>
                <a:sym typeface="Arial"/>
              </a:rPr>
              <a:t>Outdated software and firmware.</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Delayed security patches due to compatibility or safety requirements.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Limited processing power in some connected devices.</a:t>
            </a:r>
            <a:endParaRPr sz="800">
              <a:latin typeface="Arial"/>
              <a:ea typeface="Arial"/>
              <a:cs typeface="Arial"/>
              <a:sym typeface="Arial"/>
            </a:endParaRPr>
          </a:p>
          <a:p>
            <a:pPr indent="0" lvl="0" marL="0" rtl="0" algn="l">
              <a:lnSpc>
                <a:spcPct val="115000"/>
              </a:lnSpc>
              <a:spcBef>
                <a:spcPts val="1200"/>
              </a:spcBef>
              <a:spcAft>
                <a:spcPts val="0"/>
              </a:spcAft>
              <a:buClr>
                <a:schemeClr val="lt1"/>
              </a:buClr>
              <a:buSzPts val="1100"/>
              <a:buFont typeface="Arial"/>
              <a:buNone/>
            </a:pPr>
            <a:r>
              <a:rPr b="1" lang="en" sz="800">
                <a:latin typeface="Arial"/>
                <a:ea typeface="Arial"/>
                <a:cs typeface="Arial"/>
                <a:sym typeface="Arial"/>
              </a:rPr>
              <a:t>5. Availability and Patient Safety</a:t>
            </a:r>
            <a:endParaRPr b="1" sz="800">
              <a:latin typeface="Arial"/>
              <a:ea typeface="Arial"/>
              <a:cs typeface="Arial"/>
              <a:sym typeface="Arial"/>
            </a:endParaRPr>
          </a:p>
          <a:p>
            <a:pPr indent="-279400" lvl="0" marL="457200" rtl="0" algn="l">
              <a:lnSpc>
                <a:spcPct val="115000"/>
              </a:lnSpc>
              <a:spcBef>
                <a:spcPts val="1200"/>
              </a:spcBef>
              <a:spcAft>
                <a:spcPts val="0"/>
              </a:spcAft>
              <a:buClr>
                <a:schemeClr val="dk1"/>
              </a:buClr>
              <a:buSzPts val="800"/>
              <a:buChar char="●"/>
            </a:pPr>
            <a:r>
              <a:rPr lang="en" sz="800">
                <a:latin typeface="Arial"/>
                <a:ea typeface="Arial"/>
                <a:cs typeface="Arial"/>
                <a:sym typeface="Arial"/>
              </a:rPr>
              <a:t>Network failures can interrupt access to essential healthcare systems.</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Inappropriate security controls may disrupt legitimate medical communication.</a:t>
            </a:r>
            <a:endParaRPr sz="800">
              <a:latin typeface="Arial"/>
              <a:ea typeface="Arial"/>
              <a:cs typeface="Arial"/>
              <a:sym typeface="Arial"/>
            </a:endParaRPr>
          </a:p>
          <a:p>
            <a:pPr indent="-279400" lvl="0" marL="457200" rtl="0" algn="l">
              <a:lnSpc>
                <a:spcPct val="115000"/>
              </a:lnSpc>
              <a:spcBef>
                <a:spcPts val="0"/>
              </a:spcBef>
              <a:spcAft>
                <a:spcPts val="0"/>
              </a:spcAft>
              <a:buClr>
                <a:schemeClr val="dk1"/>
              </a:buClr>
              <a:buSzPts val="800"/>
              <a:buChar char="●"/>
            </a:pPr>
            <a:r>
              <a:rPr lang="en" sz="800">
                <a:latin typeface="Arial"/>
                <a:ea typeface="Arial"/>
                <a:cs typeface="Arial"/>
                <a:sym typeface="Arial"/>
              </a:rPr>
              <a:t>Incident response must prioritize patient safety and continuity of care.</a:t>
            </a:r>
            <a:endParaRPr b="1" sz="800">
              <a:latin typeface="Arial"/>
              <a:ea typeface="Arial"/>
              <a:cs typeface="Arial"/>
              <a:sym typeface="Arial"/>
            </a:endParaRPr>
          </a:p>
          <a:p>
            <a:pPr indent="0" lvl="0" marL="0" rtl="0" algn="l">
              <a:spcBef>
                <a:spcPts val="1200"/>
              </a:spcBef>
              <a:spcAft>
                <a:spcPts val="0"/>
              </a:spcAft>
              <a:buNone/>
            </a:pPr>
            <a:r>
              <a:t/>
            </a:r>
            <a:endParaRPr sz="800"/>
          </a:p>
        </p:txBody>
      </p:sp>
      <p:pic>
        <p:nvPicPr>
          <p:cNvPr id="535" name="Google Shape;535;p67"/>
          <p:cNvPicPr preferRelativeResize="0"/>
          <p:nvPr/>
        </p:nvPicPr>
        <p:blipFill>
          <a:blip r:embed="rId3">
            <a:alphaModFix/>
          </a:blip>
          <a:stretch>
            <a:fillRect/>
          </a:stretch>
        </p:blipFill>
        <p:spPr>
          <a:xfrm>
            <a:off x="5154275" y="412450"/>
            <a:ext cx="3429000" cy="44037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41" name="Google Shape;541;p68"/>
          <p:cNvSpPr txBox="1"/>
          <p:nvPr>
            <p:ph idx="3" type="title"/>
          </p:nvPr>
        </p:nvSpPr>
        <p:spPr>
          <a:xfrm>
            <a:off x="190950" y="224850"/>
            <a:ext cx="65646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Proposed Security Improvements and Research Analysis</a:t>
            </a:r>
            <a:endParaRPr sz="1600"/>
          </a:p>
        </p:txBody>
      </p:sp>
      <p:pic>
        <p:nvPicPr>
          <p:cNvPr id="542" name="Google Shape;542;p68"/>
          <p:cNvPicPr preferRelativeResize="0"/>
          <p:nvPr/>
        </p:nvPicPr>
        <p:blipFill>
          <a:blip r:embed="rId3">
            <a:alphaModFix/>
          </a:blip>
          <a:stretch>
            <a:fillRect/>
          </a:stretch>
        </p:blipFill>
        <p:spPr>
          <a:xfrm>
            <a:off x="152400" y="601575"/>
            <a:ext cx="8762999" cy="4389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9"/>
          <p:cNvSpPr txBox="1"/>
          <p:nvPr>
            <p:ph type="title"/>
          </p:nvPr>
        </p:nvSpPr>
        <p:spPr>
          <a:xfrm>
            <a:off x="228600" y="285000"/>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Conclusion</a:t>
            </a:r>
            <a:endParaRPr sz="1700"/>
          </a:p>
        </p:txBody>
      </p:sp>
      <p:sp>
        <p:nvSpPr>
          <p:cNvPr id="548" name="Google Shape;548;p6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49" name="Google Shape;549;p69"/>
          <p:cNvSpPr txBox="1"/>
          <p:nvPr/>
        </p:nvSpPr>
        <p:spPr>
          <a:xfrm>
            <a:off x="259500" y="624600"/>
            <a:ext cx="8625000" cy="389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Securing the Internet of Medical Things (IoMT)</a:t>
            </a:r>
            <a:endParaRPr b="1" sz="1300">
              <a:solidFill>
                <a:schemeClr val="dk1"/>
              </a:solidFill>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latin typeface="Urbanist"/>
                <a:ea typeface="Urbanist"/>
                <a:cs typeface="Urbanist"/>
                <a:sym typeface="Urbanist"/>
              </a:rPr>
              <a:t>The Internet of Medical Things has transformed healthcare by enabling connected medical devices, remote patient monitoring, and efficient hospital operations. However, increasing connectivity also introduces cybersecurity risks that can affect patient privacy, medical device reliability, and healthcare services.</a:t>
            </a:r>
            <a:endParaRPr sz="1100">
              <a:solidFill>
                <a:schemeClr val="dk1"/>
              </a:solidFill>
              <a:latin typeface="Urbanist"/>
              <a:ea typeface="Urbanist"/>
              <a:cs typeface="Urbanist"/>
              <a:sym typeface="Urbanist"/>
            </a:endParaRPr>
          </a:p>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Key Findings</a:t>
            </a:r>
            <a:endParaRPr b="1" sz="1300">
              <a:solidFill>
                <a:schemeClr val="dk1"/>
              </a:solidFill>
              <a:latin typeface="Urbanist"/>
              <a:ea typeface="Urbanist"/>
              <a:cs typeface="Urbanist"/>
              <a:sym typeface="Urbanist"/>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Device Security:</a:t>
            </a:r>
            <a:r>
              <a:rPr lang="en" sz="1100">
                <a:solidFill>
                  <a:schemeClr val="dk1"/>
                </a:solidFill>
                <a:latin typeface="Urbanist"/>
                <a:ea typeface="Urbanist"/>
                <a:cs typeface="Urbanist"/>
                <a:sym typeface="Urbanist"/>
              </a:rPr>
              <a:t> Connected pacemakers and medical equipment require appropriate security controls to reduce unauthorized access.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Data Protection:</a:t>
            </a:r>
            <a:r>
              <a:rPr lang="en" sz="1100">
                <a:solidFill>
                  <a:schemeClr val="dk1"/>
                </a:solidFill>
                <a:latin typeface="Urbanist"/>
                <a:ea typeface="Urbanist"/>
                <a:cs typeface="Urbanist"/>
                <a:sym typeface="Urbanist"/>
              </a:rPr>
              <a:t> Encryption and authentication help safeguard sensitive patient information.</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Network Security:</a:t>
            </a:r>
            <a:r>
              <a:rPr lang="en" sz="1100">
                <a:solidFill>
                  <a:schemeClr val="dk1"/>
                </a:solidFill>
                <a:latin typeface="Urbanist"/>
                <a:ea typeface="Urbanist"/>
                <a:cs typeface="Urbanist"/>
                <a:sym typeface="Urbanist"/>
              </a:rPr>
              <a:t> Network segmentation and continuous monitoring help reduce cybersecurity risks.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Threat Prevention:</a:t>
            </a:r>
            <a:r>
              <a:rPr lang="en" sz="1100">
                <a:solidFill>
                  <a:schemeClr val="dk1"/>
                </a:solidFill>
                <a:latin typeface="Urbanist"/>
                <a:ea typeface="Urbanist"/>
                <a:cs typeface="Urbanist"/>
                <a:sym typeface="Urbanist"/>
              </a:rPr>
              <a:t> Security updates, intrusion detection, and incident response improve resilience against cyberattacks.</a:t>
            </a:r>
            <a:endParaRPr sz="1100">
              <a:solidFill>
                <a:schemeClr val="dk1"/>
              </a:solidFill>
              <a:latin typeface="Urbanist"/>
              <a:ea typeface="Urbanist"/>
              <a:cs typeface="Urbanist"/>
              <a:sym typeface="Urbanist"/>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Urbanist"/>
                <a:ea typeface="Urbanist"/>
                <a:cs typeface="Urbanist"/>
                <a:sym typeface="Urbanist"/>
              </a:rPr>
              <a:t>Patient Safety:</a:t>
            </a:r>
            <a:r>
              <a:rPr lang="en" sz="1100">
                <a:solidFill>
                  <a:schemeClr val="dk1"/>
                </a:solidFill>
                <a:latin typeface="Urbanist"/>
                <a:ea typeface="Urbanist"/>
                <a:cs typeface="Urbanist"/>
                <a:sym typeface="Urbanist"/>
              </a:rPr>
              <a:t> Security measures must preserve the availability and safe operation of essential medical devices.</a:t>
            </a:r>
            <a:endParaRPr sz="1100">
              <a:solidFill>
                <a:schemeClr val="dk1"/>
              </a:solidFill>
              <a:latin typeface="Urbanist"/>
              <a:ea typeface="Urbanist"/>
              <a:cs typeface="Urbanist"/>
              <a:sym typeface="Urbanist"/>
            </a:endParaRPr>
          </a:p>
          <a:p>
            <a:pPr indent="0" lvl="0" marL="0" rtl="0" algn="l">
              <a:lnSpc>
                <a:spcPct val="115000"/>
              </a:lnSpc>
              <a:spcBef>
                <a:spcPts val="1400"/>
              </a:spcBef>
              <a:spcAft>
                <a:spcPts val="0"/>
              </a:spcAft>
              <a:buClr>
                <a:schemeClr val="lt1"/>
              </a:buClr>
              <a:buSzPts val="1100"/>
              <a:buFont typeface="Arial"/>
              <a:buNone/>
            </a:pPr>
            <a:r>
              <a:rPr b="1" lang="en" sz="1300">
                <a:solidFill>
                  <a:schemeClr val="dk1"/>
                </a:solidFill>
                <a:latin typeface="Urbanist"/>
                <a:ea typeface="Urbanist"/>
                <a:cs typeface="Urbanist"/>
                <a:sym typeface="Urbanist"/>
              </a:rPr>
              <a:t>Final Conclusion</a:t>
            </a:r>
            <a:endParaRPr b="1" sz="1300">
              <a:solidFill>
                <a:schemeClr val="dk1"/>
              </a:solidFill>
              <a:latin typeface="Urbanist"/>
              <a:ea typeface="Urbanist"/>
              <a:cs typeface="Urbanist"/>
              <a:sym typeface="Urbanist"/>
            </a:endParaRPr>
          </a:p>
          <a:p>
            <a:pPr indent="0" lvl="0" marL="0" rtl="0" algn="l">
              <a:lnSpc>
                <a:spcPct val="115000"/>
              </a:lnSpc>
              <a:spcBef>
                <a:spcPts val="1200"/>
              </a:spcBef>
              <a:spcAft>
                <a:spcPts val="0"/>
              </a:spcAft>
              <a:buClr>
                <a:schemeClr val="lt1"/>
              </a:buClr>
              <a:buSzPts val="1100"/>
              <a:buFont typeface="Arial"/>
              <a:buNone/>
            </a:pPr>
            <a:r>
              <a:rPr lang="en" sz="1100">
                <a:solidFill>
                  <a:schemeClr val="dk1"/>
                </a:solidFill>
                <a:latin typeface="Urbanist"/>
                <a:ea typeface="Urbanist"/>
                <a:cs typeface="Urbanist"/>
                <a:sym typeface="Urbanist"/>
              </a:rPr>
              <a:t>A layered cybersecurity approach combining authentication, encryption, network segmentation, monitoring, and incident response can strengthen IoMT security.</a:t>
            </a:r>
            <a:endParaRPr sz="1100">
              <a:solidFill>
                <a:schemeClr val="dk1"/>
              </a:solidFill>
              <a:latin typeface="Urbanist"/>
              <a:ea typeface="Urbanist"/>
              <a:cs typeface="Urbanist"/>
              <a:sym typeface="Urbanist"/>
            </a:endParaRPr>
          </a:p>
          <a:p>
            <a:pPr indent="0" lvl="0" marL="0" rtl="0" algn="l">
              <a:spcBef>
                <a:spcPts val="1200"/>
              </a:spcBef>
              <a:spcAft>
                <a:spcPts val="0"/>
              </a:spcAft>
              <a:buNone/>
            </a:pPr>
            <a:r>
              <a:t/>
            </a:r>
            <a:endParaRPr sz="1200">
              <a:solidFill>
                <a:schemeClr val="dk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Aaditya Vishwakarma</a:t>
            </a:r>
            <a:endParaRPr/>
          </a:p>
        </p:txBody>
      </p:sp>
      <p:sp>
        <p:nvSpPr>
          <p:cNvPr id="555" name="Google Shape;555;p70"/>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THANK YOU</a:t>
            </a:r>
            <a:endParaRPr/>
          </a:p>
        </p:txBody>
      </p:sp>
      <p:sp>
        <p:nvSpPr>
          <p:cNvPr id="556" name="Google Shape;556;p70"/>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Aadityav1@duck.com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