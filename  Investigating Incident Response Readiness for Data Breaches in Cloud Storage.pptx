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 Slab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Urbanist Medium"/>
      <p:regular r:id="rId31"/>
      <p:bold r:id="rId32"/>
      <p:italic r:id="rId33"/>
      <p:boldItalic r:id="rId34"/>
    </p:embeddedFont>
    <p:embeddedFont>
      <p:font typeface="Urbanist SemiBold"/>
      <p:regular r:id="rId35"/>
      <p:bold r:id="rId36"/>
      <p:italic r:id="rId37"/>
      <p:boldItalic r:id="rId38"/>
    </p:embeddedFont>
    <p:embeddedFont>
      <p:font typeface="Urbanist"/>
      <p:regular r:id="rId39"/>
      <p:bold r:id="rId40"/>
      <p:italic r:id="rId41"/>
      <p:boldItalic r:id="rId42"/>
    </p:embeddedFont>
    <p:embeddedFont>
      <p:font typeface="Nunito Sans Medium"/>
      <p:regular r:id="rId43"/>
      <p:bold r:id="rId44"/>
      <p:italic r:id="rId45"/>
      <p:boldItalic r:id="rId46"/>
    </p:embeddedFont>
    <p:embeddedFont>
      <p:font typeface="Nunito Sans SemiBold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  <p:embeddedFont>
      <p:font typeface="Nuni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F4E1CE-DF0D-4CAE-ADF0-B9513D0D4E27}">
  <a:tblStyle styleId="{C9F4E1CE-DF0D-4CAE-ADF0-B9513D0D4E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.fntdata"/><Relationship Id="rId42" Type="http://schemas.openxmlformats.org/officeDocument/2006/relationships/font" Target="fonts/Urbanist-boldItalic.fntdata"/><Relationship Id="rId41" Type="http://schemas.openxmlformats.org/officeDocument/2006/relationships/font" Target="fonts/Urbanist-italic.fntdata"/><Relationship Id="rId44" Type="http://schemas.openxmlformats.org/officeDocument/2006/relationships/font" Target="fonts/NunitoSansMedium-bold.fntdata"/><Relationship Id="rId43" Type="http://schemas.openxmlformats.org/officeDocument/2006/relationships/font" Target="fonts/NunitoSansMedium-regular.fntdata"/><Relationship Id="rId46" Type="http://schemas.openxmlformats.org/officeDocument/2006/relationships/font" Target="fonts/NunitoSansMedium-boldItalic.fntdata"/><Relationship Id="rId45" Type="http://schemas.openxmlformats.org/officeDocument/2006/relationships/font" Target="fonts/Nunito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NunitoSansSemiBold-bold.fntdata"/><Relationship Id="rId47" Type="http://schemas.openxmlformats.org/officeDocument/2006/relationships/font" Target="fonts/NunitoSansSemiBold-regular.fntdata"/><Relationship Id="rId49" Type="http://schemas.openxmlformats.org/officeDocument/2006/relationships/font" Target="fonts/NunitoSansSemiBold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Medium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UrbanistMedium-italic.fntdata"/><Relationship Id="rId32" Type="http://schemas.openxmlformats.org/officeDocument/2006/relationships/font" Target="fonts/UrbanistMedium-bold.fntdata"/><Relationship Id="rId35" Type="http://schemas.openxmlformats.org/officeDocument/2006/relationships/font" Target="fonts/UrbanistSemiBold-regular.fntdata"/><Relationship Id="rId34" Type="http://schemas.openxmlformats.org/officeDocument/2006/relationships/font" Target="fonts/UrbanistMedium-boldItalic.fntdata"/><Relationship Id="rId37" Type="http://schemas.openxmlformats.org/officeDocument/2006/relationships/font" Target="fonts/UrbanistSemiBold-italic.fntdata"/><Relationship Id="rId36" Type="http://schemas.openxmlformats.org/officeDocument/2006/relationships/font" Target="fonts/UrbanistSemiBold-bold.fntdata"/><Relationship Id="rId39" Type="http://schemas.openxmlformats.org/officeDocument/2006/relationships/font" Target="fonts/Urbanist-regular.fntdata"/><Relationship Id="rId38" Type="http://schemas.openxmlformats.org/officeDocument/2006/relationships/font" Target="fonts/UrbanistSemiBol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font" Target="fonts/RobotoSlab-bold.fntdata"/><Relationship Id="rId25" Type="http://schemas.openxmlformats.org/officeDocument/2006/relationships/font" Target="fonts/RobotoSlab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51" Type="http://schemas.openxmlformats.org/officeDocument/2006/relationships/font" Target="fonts/RobotoMono-regular.fntdata"/><Relationship Id="rId50" Type="http://schemas.openxmlformats.org/officeDocument/2006/relationships/font" Target="fonts/NunitoSansSemiBold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4.xml"/><Relationship Id="rId55" Type="http://schemas.openxmlformats.org/officeDocument/2006/relationships/font" Target="fonts/NunitoSans-regular.fntdata"/><Relationship Id="rId10" Type="http://schemas.openxmlformats.org/officeDocument/2006/relationships/slide" Target="slides/slide3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6.xml"/><Relationship Id="rId57" Type="http://schemas.openxmlformats.org/officeDocument/2006/relationships/font" Target="fonts/NunitoSans-italic.fntdata"/><Relationship Id="rId12" Type="http://schemas.openxmlformats.org/officeDocument/2006/relationships/slide" Target="slides/slide5.xml"/><Relationship Id="rId56" Type="http://schemas.openxmlformats.org/officeDocument/2006/relationships/font" Target="fonts/NunitoSans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8" Type="http://schemas.openxmlformats.org/officeDocument/2006/relationships/font" Target="fonts/NunitoSans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b62da36ed_0_2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b62da36ed_0_2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b62da36ed_0_2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b62da36ed_0_2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b62da36ed_0_2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b62da36ed_0_2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b62da36ed_0_2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b62da36ed_0_2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b62da36ed_0_2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fb62da36ed_0_2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b62da36ed_0_2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fb62da36ed_0_2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b62da36ed_0_2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fb62da36ed_0_2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b62da36ed_0_2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fb62da36ed_0_2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b62da36ed_0_2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fb62da36ed_0_2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b62da36ed_0_2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fb62da36ed_0_2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b62da36ed_0_2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fb62da36ed_0_2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b62da36ed_0_2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fb62da36ed_0_2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b62da36ed_0_2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b62da36ed_0_2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b62da36ed_0_2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fb62da36ed_0_2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b62da36ed_0_2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fb62da36ed_0_2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b62da36ed_0_2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b62da36ed_0_2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b62da36ed_0_3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fb62da36ed_0_3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3342200" y="3829725"/>
            <a:ext cx="18579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 txBox="1"/>
          <p:nvPr>
            <p:ph type="title"/>
          </p:nvPr>
        </p:nvSpPr>
        <p:spPr>
          <a:xfrm>
            <a:off x="1368925" y="4572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I</a:t>
            </a:r>
            <a:r>
              <a:rPr lang="en" sz="27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nvestigating Incident Response Readiness for Data Breaches in Cloud Storage</a:t>
            </a:r>
            <a:endParaRPr sz="27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5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4" name="Google Shape;484;p53"/>
          <p:cNvSpPr txBox="1"/>
          <p:nvPr>
            <p:ph idx="1" type="subTitle"/>
          </p:nvPr>
        </p:nvSpPr>
        <p:spPr>
          <a:xfrm>
            <a:off x="2177625" y="189540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8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Assessing Detection, Response, Recovery and Prevention Capabilities</a:t>
            </a:r>
            <a:endParaRPr b="1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5" name="Google Shape;485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486" name="Google Shape;486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487" name="Google Shape;487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88" name="Google Shape;488;p53"/>
          <p:cNvSpPr txBox="1"/>
          <p:nvPr>
            <p:ph idx="5" type="subTitle"/>
          </p:nvPr>
        </p:nvSpPr>
        <p:spPr>
          <a:xfrm>
            <a:off x="3416450" y="3884775"/>
            <a:ext cx="1709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489" name="Google Shape;489;p53"/>
          <p:cNvSpPr txBox="1"/>
          <p:nvPr>
            <p:ph idx="7" type="subTitle"/>
          </p:nvPr>
        </p:nvSpPr>
        <p:spPr>
          <a:xfrm>
            <a:off x="3953091" y="26457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90" name="Google Shape;490;p53"/>
          <p:cNvSpPr txBox="1"/>
          <p:nvPr>
            <p:ph idx="8" type="subTitle"/>
          </p:nvPr>
        </p:nvSpPr>
        <p:spPr>
          <a:xfrm>
            <a:off x="3750891" y="3150088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4"/>
          <p:cNvSpPr/>
          <p:nvPr/>
        </p:nvSpPr>
        <p:spPr>
          <a:xfrm>
            <a:off x="4618800" y="228600"/>
            <a:ext cx="4296900" cy="929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6" name="Google Shape;496;p54"/>
          <p:cNvSpPr/>
          <p:nvPr/>
        </p:nvSpPr>
        <p:spPr>
          <a:xfrm>
            <a:off x="4619100" y="1361425"/>
            <a:ext cx="4296600" cy="929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4618950" y="2486163"/>
            <a:ext cx="4296600" cy="8841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54"/>
          <p:cNvSpPr/>
          <p:nvPr/>
        </p:nvSpPr>
        <p:spPr>
          <a:xfrm>
            <a:off x="4618800" y="3565325"/>
            <a:ext cx="4296900" cy="8178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99" name="Google Shape;499;p54"/>
          <p:cNvGrpSpPr/>
          <p:nvPr/>
        </p:nvGrpSpPr>
        <p:grpSpPr>
          <a:xfrm rot="-5400000">
            <a:off x="8556505" y="626675"/>
            <a:ext cx="204654" cy="204654"/>
            <a:chOff x="259788" y="1923155"/>
            <a:chExt cx="409800" cy="409800"/>
          </a:xfrm>
        </p:grpSpPr>
        <p:sp>
          <p:nvSpPr>
            <p:cNvPr id="500" name="Google Shape;500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1" name="Google Shape;501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2" name="Google Shape;502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4" name="Google Shape;504;p54"/>
          <p:cNvGrpSpPr/>
          <p:nvPr/>
        </p:nvGrpSpPr>
        <p:grpSpPr>
          <a:xfrm rot="-5400000">
            <a:off x="8556505" y="1701810"/>
            <a:ext cx="204654" cy="204654"/>
            <a:chOff x="259788" y="1923155"/>
            <a:chExt cx="409800" cy="409800"/>
          </a:xfrm>
        </p:grpSpPr>
        <p:sp>
          <p:nvSpPr>
            <p:cNvPr id="505" name="Google Shape;505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6" name="Google Shape;506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7" name="Google Shape;507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9" name="Google Shape;509;p54"/>
          <p:cNvGrpSpPr/>
          <p:nvPr/>
        </p:nvGrpSpPr>
        <p:grpSpPr>
          <a:xfrm rot="-5400000">
            <a:off x="8556505" y="2853145"/>
            <a:ext cx="204654" cy="204654"/>
            <a:chOff x="259788" y="1923155"/>
            <a:chExt cx="409800" cy="409800"/>
          </a:xfrm>
        </p:grpSpPr>
        <p:sp>
          <p:nvSpPr>
            <p:cNvPr id="510" name="Google Shape;510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1" name="Google Shape;511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2" name="Google Shape;512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4" name="Google Shape;514;p54"/>
          <p:cNvGrpSpPr/>
          <p:nvPr/>
        </p:nvGrpSpPr>
        <p:grpSpPr>
          <a:xfrm rot="-5400000">
            <a:off x="8556505" y="3821980"/>
            <a:ext cx="204654" cy="204654"/>
            <a:chOff x="259788" y="1923155"/>
            <a:chExt cx="409800" cy="409800"/>
          </a:xfrm>
        </p:grpSpPr>
        <p:sp>
          <p:nvSpPr>
            <p:cNvPr id="515" name="Google Shape;515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6" name="Google Shape;516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7" name="Google Shape;517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9" name="Google Shape;519;p5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20" name="Google Shape;520;p5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21" name="Google Shape;521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22" name="Google Shape;522;p54"/>
          <p:cNvSpPr txBox="1"/>
          <p:nvPr>
            <p:ph type="title"/>
          </p:nvPr>
        </p:nvSpPr>
        <p:spPr>
          <a:xfrm>
            <a:off x="277500" y="228600"/>
            <a:ext cx="3904500" cy="41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Introduction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523" name="Google Shape;523;p54"/>
          <p:cNvSpPr txBox="1"/>
          <p:nvPr>
            <p:ph idx="4" type="subTitle"/>
          </p:nvPr>
        </p:nvSpPr>
        <p:spPr>
          <a:xfrm>
            <a:off x="4744575" y="58470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24" name="Google Shape;524;p54"/>
          <p:cNvSpPr txBox="1"/>
          <p:nvPr>
            <p:ph idx="5" type="subTitle"/>
          </p:nvPr>
        </p:nvSpPr>
        <p:spPr>
          <a:xfrm>
            <a:off x="4663700" y="16748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25" name="Google Shape;525;p54"/>
          <p:cNvSpPr txBox="1"/>
          <p:nvPr>
            <p:ph idx="6" type="subTitle"/>
          </p:nvPr>
        </p:nvSpPr>
        <p:spPr>
          <a:xfrm>
            <a:off x="4663700" y="278391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26" name="Google Shape;526;p54"/>
          <p:cNvSpPr txBox="1"/>
          <p:nvPr>
            <p:ph idx="7" type="subTitle"/>
          </p:nvPr>
        </p:nvSpPr>
        <p:spPr>
          <a:xfrm>
            <a:off x="4663700" y="37800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27" name="Google Shape;527;p54"/>
          <p:cNvSpPr txBox="1"/>
          <p:nvPr>
            <p:ph idx="13" type="subTitle"/>
          </p:nvPr>
        </p:nvSpPr>
        <p:spPr>
          <a:xfrm>
            <a:off x="5067075" y="387150"/>
            <a:ext cx="3267600" cy="605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Cloud storage has become an essential part of modern organizations, allowing businesses to store and access large amounts of data remotely.</a:t>
            </a:r>
            <a:endParaRPr sz="1100"/>
          </a:p>
        </p:txBody>
      </p:sp>
      <p:sp>
        <p:nvSpPr>
          <p:cNvPr id="528" name="Google Shape;528;p54"/>
          <p:cNvSpPr txBox="1"/>
          <p:nvPr>
            <p:ph idx="14" type="subTitle"/>
          </p:nvPr>
        </p:nvSpPr>
        <p:spPr>
          <a:xfrm>
            <a:off x="5018550" y="1622388"/>
            <a:ext cx="3267600" cy="38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However, sensitive cloud data can be exposed through </a:t>
            </a:r>
            <a:r>
              <a:rPr b="1" lang="en" sz="1100"/>
              <a:t>stolen credentials, misconfigured storage, weak access controls, phishing, insider threats, and vulnerable applications</a:t>
            </a:r>
            <a:r>
              <a:rPr lang="en" sz="1100"/>
              <a:t>.</a:t>
            </a:r>
            <a:endParaRPr sz="1100"/>
          </a:p>
        </p:txBody>
      </p:sp>
      <p:sp>
        <p:nvSpPr>
          <p:cNvPr id="529" name="Google Shape;529;p54"/>
          <p:cNvSpPr txBox="1"/>
          <p:nvPr>
            <p:ph idx="15" type="subTitle"/>
          </p:nvPr>
        </p:nvSpPr>
        <p:spPr>
          <a:xfrm>
            <a:off x="5067075" y="28078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When a data breach occurs, preventing further damage depends not only on security controls but also on the organization's </a:t>
            </a:r>
            <a:r>
              <a:rPr b="1" lang="en" sz="1100"/>
              <a:t>incident response readiness</a:t>
            </a:r>
            <a:r>
              <a:rPr lang="en" sz="1100"/>
              <a:t>.</a:t>
            </a:r>
            <a:endParaRPr/>
          </a:p>
        </p:txBody>
      </p:sp>
      <p:sp>
        <p:nvSpPr>
          <p:cNvPr id="530" name="Google Shape;530;p54"/>
          <p:cNvSpPr txBox="1"/>
          <p:nvPr>
            <p:ph idx="16" type="subTitle"/>
          </p:nvPr>
        </p:nvSpPr>
        <p:spPr>
          <a:xfrm>
            <a:off x="5067075" y="37800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/>
              <a:t>This study investigates how prepared organizations are to detect, investigate, contain, and recover from data breaches in cloud storage.</a:t>
            </a:r>
            <a:endParaRPr sz="1100"/>
          </a:p>
        </p:txBody>
      </p:sp>
      <p:pic>
        <p:nvPicPr>
          <p:cNvPr id="531" name="Google Shape;5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25" y="940600"/>
            <a:ext cx="4125773" cy="304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5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Storage</a:t>
            </a:r>
            <a:endParaRPr/>
          </a:p>
        </p:txBody>
      </p:sp>
      <p:sp>
        <p:nvSpPr>
          <p:cNvPr id="537" name="Google Shape;537;p5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38" name="Google Shape;538;p5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39" name="Google Shape;539;p5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40" name="Google Shape;540;p55"/>
          <p:cNvSpPr txBox="1"/>
          <p:nvPr/>
        </p:nvSpPr>
        <p:spPr>
          <a:xfrm>
            <a:off x="3624525" y="360950"/>
            <a:ext cx="52911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is Cloud Storage?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Cloud storage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a service that allows individuals and organizations to </a:t>
            </a: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store, manage, and access data on remote servers through the Internet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instead of relying only on local computers or physical storage devices.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Organizations Use Cloud Storage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Storage can be increased when required.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Accessibility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Data can be accessed from different locations and devices.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Availability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Data can remain available even when local systems fail.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Cost Efficiency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Reduces the need for maintaining physical storage infrastructure.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Backup &amp; Recovery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Helps organizations maintain copies of important data.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Examples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Amazon S3 | Microsoft Azure Blob Storage | Google Cloud Storage | OneDrive | Google Drive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Security Concern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same accessibility that makes cloud storage useful can also create security risks when access controls, permissions, credentials, or configurations are improperly managed.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1" name="Google Shape;5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50" y="1356175"/>
            <a:ext cx="3319725" cy="22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48" name="Google Shape;548;p5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49" name="Google Shape;549;p56"/>
          <p:cNvSpPr txBox="1"/>
          <p:nvPr/>
        </p:nvSpPr>
        <p:spPr>
          <a:xfrm>
            <a:off x="228600" y="145200"/>
            <a:ext cx="2936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Cloud Data Breach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0" name="Google Shape;550;p56"/>
          <p:cNvSpPr txBox="1"/>
          <p:nvPr/>
        </p:nvSpPr>
        <p:spPr>
          <a:xfrm>
            <a:off x="82725" y="646700"/>
            <a:ext cx="4536300" cy="3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is a Cloud Data Breach?</a:t>
            </a:r>
            <a:endParaRPr b="1"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cloud data breach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occurs when an unauthorized person gains access to, exposes, modifies, or steals data stored in a cloud environment.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Common Causes</a:t>
            </a:r>
            <a:endParaRPr b="1"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🔑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Stolen Credentials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Attackers obtain usernames, passwords, or access tokens.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⚙️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Misconfiguration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Cloud storage is accidentally given excessive or public access.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👤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Excessive Permissions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Users receive more access than they actually need.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🎣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Phishing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Employees are tricked into revealing credentials.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🔌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Insecure APIs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Vulnerable interfaces can provide unauthorized access.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🧑‍💻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Insider Threats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Authorized users misuse their access.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🦠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Malware/Ransomware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Malicious software can compromise cloud-connected resources.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1" name="Google Shape;551;p56"/>
          <p:cNvSpPr txBox="1"/>
          <p:nvPr/>
        </p:nvSpPr>
        <p:spPr>
          <a:xfrm>
            <a:off x="5701525" y="646700"/>
            <a:ext cx="31299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Affected Data</a:t>
            </a:r>
            <a:endParaRPr b="1"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👤 Personal Information</a:t>
            </a:r>
            <a:b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💳 Financial Records</a:t>
            </a:r>
            <a:b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📄 Business Documents</a:t>
            </a:r>
            <a:b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🔐 Credentials &amp; Access Tokens</a:t>
            </a:r>
            <a:b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💾 Backups &amp; Databases</a:t>
            </a:r>
            <a:b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🧑‍💼 Customer &amp; Employee Records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52" name="Google Shape;5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425" y="2377675"/>
            <a:ext cx="3938551" cy="214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57" name="Google Shape;557;p57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7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latin typeface="Urbanist"/>
                <a:ea typeface="Urbanist"/>
                <a:cs typeface="Urbanist"/>
                <a:sym typeface="Urbanist"/>
              </a:rPr>
              <a:t>Why It Matters in Cloud Storage</a:t>
            </a:r>
            <a:endParaRPr b="1" sz="105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Urbanist"/>
                <a:ea typeface="Urbanist"/>
                <a:cs typeface="Urbanist"/>
                <a:sym typeface="Urbanist"/>
              </a:rPr>
              <a:t>A well-planned incident response process helps organizations reduce </a:t>
            </a:r>
            <a:r>
              <a:rPr b="1" lang="en" sz="1050">
                <a:latin typeface="Urbanist"/>
                <a:ea typeface="Urbanist"/>
                <a:cs typeface="Urbanist"/>
                <a:sym typeface="Urbanist"/>
              </a:rPr>
              <a:t>data loss, downtime, unauthorized access, and further compromise</a:t>
            </a:r>
            <a:r>
              <a:rPr lang="en" sz="1050">
                <a:latin typeface="Urbanist"/>
                <a:ea typeface="Urbanist"/>
                <a:cs typeface="Urbanist"/>
                <a:sym typeface="Urbanist"/>
              </a:rPr>
              <a:t> after a cloud breach.</a:t>
            </a:r>
            <a:endParaRPr sz="105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559" name="Google Shape;559;p57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60" name="Google Shape;560;p57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61" name="Google Shape;561;p57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Incident Response</a:t>
            </a:r>
            <a:endParaRPr sz="1600"/>
          </a:p>
        </p:txBody>
      </p:sp>
      <p:sp>
        <p:nvSpPr>
          <p:cNvPr id="562" name="Google Shape;562;p57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63" name="Google Shape;563;p57"/>
          <p:cNvSpPr txBox="1"/>
          <p:nvPr/>
        </p:nvSpPr>
        <p:spPr>
          <a:xfrm>
            <a:off x="121300" y="736800"/>
            <a:ext cx="8451300" cy="26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Incident Response (IR)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the structured process an organization follows to </a:t>
            </a: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detect, investigate, contain, eliminate, and recover from a cybersecurity incident</a:t>
            </a: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Main Objectives</a:t>
            </a:r>
            <a:endParaRPr b="1"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🚨 Detect the security incident quickly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🔍 Investigate what happened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🛑 Contain the threat and limit damage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🧹 Remove the cause of the incident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🔄 Recover affected systems and data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Urbanist"/>
              <a:buChar char="●"/>
            </a:pPr>
            <a:r>
              <a:rPr lang="en" sz="10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📋 Learn from the incident and improve security</a:t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64" name="Google Shape;56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7500" y="1120938"/>
            <a:ext cx="4765102" cy="2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70" name="Google Shape;570;p5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71" name="Google Shape;571;p58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Incident Response Readiness</a:t>
            </a:r>
            <a:endParaRPr sz="1600"/>
          </a:p>
        </p:txBody>
      </p:sp>
      <p:sp>
        <p:nvSpPr>
          <p:cNvPr id="572" name="Google Shape;572;p5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73" name="Google Shape;573;p58"/>
          <p:cNvSpPr txBox="1"/>
          <p:nvPr/>
        </p:nvSpPr>
        <p:spPr>
          <a:xfrm>
            <a:off x="255675" y="579025"/>
            <a:ext cx="8429700" cy="3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Incident Response Readiness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refers to an organization's ability to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quickly detect, investigate, contain, recover from, and learn from a security incident.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Key Readiness Factors</a:t>
            </a:r>
            <a:endParaRPr b="1"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🔍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Detection Capability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Ability to identify suspicious activity quickly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📊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Monitoring &amp; Logging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Availability of cloud logs and security events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👥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Trained Response Team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People with defined roles and responsibilities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📋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Incident Response Plan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Documented procedures for handling incidents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🔐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 &amp; Security Controls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Strong authentication, permissions, and access management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💾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Backup &amp; Recovery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Ability to restore affected data and services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🧪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Regular Testing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— Drills, simulations, and review of response procedures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Readiness Goal</a:t>
            </a:r>
            <a:endParaRPr b="1"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Detect → Respond → Recover → Improve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prepared organization can reduce the impact and duration of a cloud data breach.</a:t>
            </a:r>
            <a:endParaRPr b="1"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79" name="Google Shape;579;p5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80" name="Google Shape;580;p59"/>
          <p:cNvSpPr txBox="1"/>
          <p:nvPr>
            <p:ph type="title"/>
          </p:nvPr>
        </p:nvSpPr>
        <p:spPr>
          <a:xfrm>
            <a:off x="228600" y="290448"/>
            <a:ext cx="3655800" cy="42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Cloud Data Breach Scenario</a:t>
            </a:r>
            <a:endParaRPr sz="1800"/>
          </a:p>
        </p:txBody>
      </p:sp>
      <p:sp>
        <p:nvSpPr>
          <p:cNvPr id="581" name="Google Shape;581;p59"/>
          <p:cNvSpPr txBox="1"/>
          <p:nvPr>
            <p:ph idx="1" type="subTitle"/>
          </p:nvPr>
        </p:nvSpPr>
        <p:spPr>
          <a:xfrm>
            <a:off x="228600" y="333780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>
                <a:solidFill>
                  <a:schemeClr val="dk2"/>
                </a:solidFill>
              </a:rPr>
              <a:t>Potentially Affected Data</a:t>
            </a:r>
            <a:endParaRPr b="1" sz="13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Customer Records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Employee Information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Financial Documents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Business Files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Backups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dk2"/>
                </a:solidFill>
              </a:rPr>
              <a:t>Access Credentials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82" name="Google Shape;582;p5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83" name="Google Shape;583;p59"/>
          <p:cNvSpPr txBox="1"/>
          <p:nvPr/>
        </p:nvSpPr>
        <p:spPr>
          <a:xfrm>
            <a:off x="176250" y="757150"/>
            <a:ext cx="3760500" cy="3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Scenario</a:t>
            </a:r>
            <a:endParaRPr b="1"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 employee's cloud account credentials are stolen through a </a:t>
            </a:r>
            <a:r>
              <a:rPr b="1"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phishing attack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attacker uses the stolen credentials to access the organization's cloud storage and obtains unauthorized access to sensitive files.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4" name="Google Shape;5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75" y="509500"/>
            <a:ext cx="2914125" cy="3943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590" name="Google Shape;590;p6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591" name="Google Shape;591;p6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92" name="Google Shape;592;p60"/>
          <p:cNvSpPr txBox="1"/>
          <p:nvPr>
            <p:ph type="title"/>
          </p:nvPr>
        </p:nvSpPr>
        <p:spPr>
          <a:xfrm>
            <a:off x="320625" y="559175"/>
            <a:ext cx="8140800" cy="3822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When a cloud data breach is identified, the organization should follow a structured response process to limit damage and restore secure operations.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1. Detect &amp; Analyze 🔍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Identify suspicious activity and determine the scope of the breach.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2. Contain 🛑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Disable compromised accounts, revoke sessions/tokens, and restrict affected resources.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3. Eradicate 🧹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Remove malicious access, fix vulnerabilities, and strengthen security controls.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4. Recover 🔄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Restore affected systems/data from trusted backups and resume normal operations.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5. Learn &amp; Improve 📋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Document the incident, identify gaps, and improve the incident response plan.</a:t>
            </a:r>
            <a:endParaRPr b="1"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  <p:sp>
        <p:nvSpPr>
          <p:cNvPr id="593" name="Google Shape;593;p60"/>
          <p:cNvSpPr txBox="1"/>
          <p:nvPr>
            <p:ph idx="5" type="subTitle"/>
          </p:nvPr>
        </p:nvSpPr>
        <p:spPr>
          <a:xfrm>
            <a:off x="229175" y="229175"/>
            <a:ext cx="3879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Should the Organization Respond?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1"/>
          <p:cNvSpPr txBox="1"/>
          <p:nvPr>
            <p:ph idx="1" type="subTitle"/>
          </p:nvPr>
        </p:nvSpPr>
        <p:spPr>
          <a:xfrm>
            <a:off x="228600" y="228600"/>
            <a:ext cx="36816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Cloud Evidence &amp; Forensic Investigation</a:t>
            </a:r>
            <a:endParaRPr sz="1600"/>
          </a:p>
        </p:txBody>
      </p:sp>
      <p:sp>
        <p:nvSpPr>
          <p:cNvPr id="599" name="Google Shape;599;p6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 Vishwakarma</a:t>
            </a:r>
            <a:endParaRPr/>
          </a:p>
        </p:txBody>
      </p:sp>
      <p:sp>
        <p:nvSpPr>
          <p:cNvPr id="600" name="Google Shape;600;p6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01" name="Google Shape;601;p6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02" name="Google Shape;602;p61"/>
          <p:cNvSpPr txBox="1"/>
          <p:nvPr/>
        </p:nvSpPr>
        <p:spPr>
          <a:xfrm>
            <a:off x="285750" y="714375"/>
            <a:ext cx="8158800" cy="3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What is Investigated?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During a cloud data breach, investigators collect and analyze digital evidence to understand </a:t>
            </a:r>
            <a:r>
              <a:rPr b="1" lang="en" sz="1100">
                <a:solidFill>
                  <a:schemeClr val="lt1"/>
                </a:solidFill>
              </a:rPr>
              <a:t>how the attacker entered, what they accessed, and what actions were performed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Key Sources of Evidence</a:t>
            </a:r>
            <a:endParaRPr b="1" sz="13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📋 </a:t>
            </a:r>
            <a:r>
              <a:rPr b="1" lang="en" sz="1100">
                <a:solidFill>
                  <a:schemeClr val="lt1"/>
                </a:solidFill>
              </a:rPr>
              <a:t>Cloud Audit Logs</a:t>
            </a:r>
            <a:r>
              <a:rPr lang="en" sz="1100">
                <a:solidFill>
                  <a:schemeClr val="lt1"/>
                </a:solidFill>
              </a:rPr>
              <a:t> — User activities, API calls, and administrative actions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🔐 </a:t>
            </a:r>
            <a:r>
              <a:rPr b="1" lang="en" sz="1100">
                <a:solidFill>
                  <a:schemeClr val="lt1"/>
                </a:solidFill>
              </a:rPr>
              <a:t>Authentication Logs</a:t>
            </a:r>
            <a:r>
              <a:rPr lang="en" sz="1100">
                <a:solidFill>
                  <a:schemeClr val="lt1"/>
                </a:solidFill>
              </a:rPr>
              <a:t> — Login attempts, failed logins, and account activity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🌐 </a:t>
            </a:r>
            <a:r>
              <a:rPr b="1" lang="en" sz="1100">
                <a:solidFill>
                  <a:schemeClr val="lt1"/>
                </a:solidFill>
              </a:rPr>
              <a:t>Network Logs</a:t>
            </a:r>
            <a:r>
              <a:rPr lang="en" sz="1100">
                <a:solidFill>
                  <a:schemeClr val="lt1"/>
                </a:solidFill>
              </a:rPr>
              <a:t> — IP addresses, connections, and unusual traffic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📁 </a:t>
            </a:r>
            <a:r>
              <a:rPr b="1" lang="en" sz="1100">
                <a:solidFill>
                  <a:schemeClr val="lt1"/>
                </a:solidFill>
              </a:rPr>
              <a:t>File &amp; Storage Logs</a:t>
            </a:r>
            <a:r>
              <a:rPr lang="en" sz="1100">
                <a:solidFill>
                  <a:schemeClr val="lt1"/>
                </a:solidFill>
              </a:rPr>
              <a:t> — File access, modification, deletion, and downloads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👤 </a:t>
            </a:r>
            <a:r>
              <a:rPr b="1" lang="en" sz="1100">
                <a:solidFill>
                  <a:schemeClr val="lt1"/>
                </a:solidFill>
              </a:rPr>
              <a:t>User &amp; IAM Records</a:t>
            </a:r>
            <a:r>
              <a:rPr lang="en" sz="1100">
                <a:solidFill>
                  <a:schemeClr val="lt1"/>
                </a:solidFill>
              </a:rPr>
              <a:t> — Accounts, permissions, roles, and access changes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🚨 </a:t>
            </a:r>
            <a:r>
              <a:rPr b="1" lang="en" sz="1100">
                <a:solidFill>
                  <a:schemeClr val="lt1"/>
                </a:solidFill>
              </a:rPr>
              <a:t>Security Alerts</a:t>
            </a:r>
            <a:r>
              <a:rPr lang="en" sz="1100">
                <a:solidFill>
                  <a:schemeClr val="lt1"/>
                </a:solidFill>
              </a:rPr>
              <a:t> — Suspicious activities detected by security tools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Investigation Flow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Collect Evidence → Analyze Logs → Identify Attack Path → Determine Impact → Document Findings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2"/>
          <p:cNvSpPr txBox="1"/>
          <p:nvPr>
            <p:ph idx="1" type="subTitle"/>
          </p:nvPr>
        </p:nvSpPr>
        <p:spPr>
          <a:xfrm>
            <a:off x="228600" y="228600"/>
            <a:ext cx="41871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Incident Response Readiness Assessment</a:t>
            </a:r>
            <a:endParaRPr sz="1800"/>
          </a:p>
        </p:txBody>
      </p:sp>
      <p:sp>
        <p:nvSpPr>
          <p:cNvPr id="608" name="Google Shape;608;p6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09" name="Google Shape;609;p6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10" name="Google Shape;610;p6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graphicFrame>
        <p:nvGraphicFramePr>
          <p:cNvPr id="611" name="Google Shape;611;p6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{C9F4E1CE-DF0D-4CAE-ADF0-B9513D0D4E27}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2" name="Google Shape;612;p62"/>
          <p:cNvSpPr txBox="1"/>
          <p:nvPr/>
        </p:nvSpPr>
        <p:spPr>
          <a:xfrm>
            <a:off x="171450" y="621375"/>
            <a:ext cx="8542500" cy="3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An organization's readiness depends on its ability to detect, investigate, contain, recover from, and prevent cloud security incidents</a:t>
            </a:r>
            <a:r>
              <a:rPr b="1" lang="en" sz="1000">
                <a:solidFill>
                  <a:schemeClr val="lt1"/>
                </a:solidFill>
              </a:rPr>
              <a:t>.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KEY ASSESSMENT AREAS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🔍 Detection								</a:t>
            </a:r>
            <a:r>
              <a:rPr lang="en" sz="1000">
                <a:solidFill>
                  <a:schemeClr val="lt1"/>
                </a:solidFill>
              </a:rPr>
              <a:t>Can suspicious activity be identified quickly?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📋 Incident Response Plan						</a:t>
            </a:r>
            <a:r>
              <a:rPr lang="en" sz="1000">
                <a:solidFill>
                  <a:schemeClr val="lt1"/>
                </a:solidFill>
              </a:rPr>
              <a:t>Are documented procedures available for handling incidents?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👥 Response Team							</a:t>
            </a:r>
            <a:r>
              <a:rPr lang="en" sz="1000">
                <a:solidFill>
                  <a:schemeClr val="lt1"/>
                </a:solidFill>
              </a:rPr>
              <a:t>Are roles and responsibilities clearly defined?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📊 Logging &amp; Monitoring						</a:t>
            </a:r>
            <a:r>
              <a:rPr lang="en" sz="1000">
                <a:solidFill>
                  <a:schemeClr val="lt1"/>
                </a:solidFill>
              </a:rPr>
              <a:t>Are sufficient cloud logs available for detection and investigation?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🛑 Containment							</a:t>
            </a:r>
            <a:r>
              <a:rPr lang="en" sz="1000">
                <a:solidFill>
                  <a:schemeClr val="lt1"/>
                </a:solidFill>
              </a:rPr>
              <a:t>Can compromised accounts and cloud resources be isolated quickly?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💾 Recovery								</a:t>
            </a:r>
            <a:r>
              <a:rPr lang="en" sz="1000">
                <a:solidFill>
                  <a:schemeClr val="lt1"/>
                </a:solidFill>
              </a:rPr>
              <a:t>Can affected data and services be restored safely?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🧪 Testing &amp; Improvement						</a:t>
            </a:r>
            <a:r>
              <a:rPr lang="en" sz="1000">
                <a:solidFill>
                  <a:schemeClr val="lt1"/>
                </a:solidFill>
              </a:rPr>
              <a:t>Are response procedures regularly tested and updated?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READINESS FLOW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</a:rPr>
              <a:t>Detection → Investigation → Containment → Recovery → Prevention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18" name="Google Shape;618;p6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19" name="Google Shape;619;p63"/>
          <p:cNvSpPr txBox="1"/>
          <p:nvPr>
            <p:ph idx="8" type="subTitle"/>
          </p:nvPr>
        </p:nvSpPr>
        <p:spPr>
          <a:xfrm>
            <a:off x="228600" y="228600"/>
            <a:ext cx="4866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Proposed Cloud Breach Incident Response Framework</a:t>
            </a:r>
            <a:endParaRPr sz="1500"/>
          </a:p>
        </p:txBody>
      </p:sp>
      <p:sp>
        <p:nvSpPr>
          <p:cNvPr id="620" name="Google Shape;620;p6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21" name="Google Shape;621;p63"/>
          <p:cNvSpPr txBox="1"/>
          <p:nvPr/>
        </p:nvSpPr>
        <p:spPr>
          <a:xfrm>
            <a:off x="194100" y="630800"/>
            <a:ext cx="8669700" cy="3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An organization's readiness depends on its ability to detect, investigate, contain, recover from, and prevent cloud security incidents.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KEY ASSESSMENT AREAS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🔍 Detection						</a:t>
            </a:r>
            <a:r>
              <a:rPr lang="en" sz="1300">
                <a:solidFill>
                  <a:schemeClr val="lt1"/>
                </a:solidFill>
              </a:rPr>
              <a:t>Can suspicious activity be identified quickly?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📋 Incident Response Plan				</a:t>
            </a:r>
            <a:r>
              <a:rPr lang="en" sz="1300">
                <a:solidFill>
                  <a:schemeClr val="lt1"/>
                </a:solidFill>
              </a:rPr>
              <a:t>Are documented procedures available for handling incidents?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👥 Response Team					</a:t>
            </a:r>
            <a:r>
              <a:rPr lang="en" sz="1300">
                <a:solidFill>
                  <a:schemeClr val="lt1"/>
                </a:solidFill>
              </a:rPr>
              <a:t>Are roles and responsibilities clearly defined?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📊 Logging &amp; Monitoring				</a:t>
            </a:r>
            <a:r>
              <a:rPr lang="en" sz="1300">
                <a:solidFill>
                  <a:schemeClr val="lt1"/>
                </a:solidFill>
              </a:rPr>
              <a:t>Are sufficient cloud logs available for detection and investigation?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🛑 Containment						</a:t>
            </a:r>
            <a:r>
              <a:rPr lang="en" sz="1300">
                <a:solidFill>
                  <a:schemeClr val="lt1"/>
                </a:solidFill>
              </a:rPr>
              <a:t>Can compromised accounts and cloud resources be isolated quickly?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💾 Recovery						</a:t>
            </a:r>
            <a:r>
              <a:rPr lang="en" sz="1300">
                <a:solidFill>
                  <a:schemeClr val="lt1"/>
                </a:solidFill>
              </a:rPr>
              <a:t>Can affected data and services be restored safely?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🧪 Testing &amp; Improvement				</a:t>
            </a:r>
            <a:r>
              <a:rPr lang="en" sz="1300">
                <a:solidFill>
                  <a:schemeClr val="lt1"/>
                </a:solidFill>
              </a:rPr>
              <a:t>Are response procedures regularly tested and updated?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READINESS FLOW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Detection → Investigation → Containment → Recovery → Prevention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4"/>
          <p:cNvSpPr txBox="1"/>
          <p:nvPr>
            <p:ph idx="6" type="title"/>
          </p:nvPr>
        </p:nvSpPr>
        <p:spPr>
          <a:xfrm>
            <a:off x="233850" y="228600"/>
            <a:ext cx="5249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Proposed Cloud Breach Incident Response Framework</a:t>
            </a:r>
            <a:endParaRPr sz="1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27" name="Google Shape;627;p6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28" name="Google Shape;628;p6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29" name="Google Shape;629;p6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630" name="Google Shape;63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" y="686100"/>
            <a:ext cx="7674949" cy="38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5"/>
          <p:cNvSpPr txBox="1"/>
          <p:nvPr>
            <p:ph type="title"/>
          </p:nvPr>
        </p:nvSpPr>
        <p:spPr>
          <a:xfrm>
            <a:off x="233850" y="228600"/>
            <a:ext cx="49986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Nunito Sans Medium"/>
                <a:ea typeface="Nunito Sans Medium"/>
                <a:cs typeface="Nunito Sans Medium"/>
                <a:sym typeface="Nunito Sans Medium"/>
              </a:rPr>
              <a:t>Technologies to Improve Incident Response Readiness</a:t>
            </a:r>
            <a:endParaRPr sz="2000"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36" name="Google Shape;636;p65"/>
          <p:cNvSpPr txBox="1"/>
          <p:nvPr>
            <p:ph idx="1" type="subTitle"/>
          </p:nvPr>
        </p:nvSpPr>
        <p:spPr>
          <a:xfrm>
            <a:off x="322200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37" name="Google Shape;637;p65"/>
          <p:cNvSpPr txBox="1"/>
          <p:nvPr>
            <p:ph idx="2" type="subTitle"/>
          </p:nvPr>
        </p:nvSpPr>
        <p:spPr>
          <a:xfrm>
            <a:off x="47334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38" name="Google Shape;638;p6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39" name="Google Shape;639;p65"/>
          <p:cNvSpPr txBox="1"/>
          <p:nvPr/>
        </p:nvSpPr>
        <p:spPr>
          <a:xfrm>
            <a:off x="322200" y="457200"/>
            <a:ext cx="87303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Key Technologies</a:t>
            </a:r>
            <a:endParaRPr b="1" sz="13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☁️ Cloud Security Services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Monitor cloud resources, configurations, identities, and security events.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📊 SIEM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Collects and correlates logs from cloud services, systems, and applications to identify suspicious activity.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🚨 EDR / XDR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Detects and investigates suspicious activity across endpoints, networks, and cloud environments.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🔐 IAM &amp; MFA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Controls user access and strengthens authentication for cloud resources.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📝 Cloud Audit Logging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Records user actions, API calls, authentication events, and resource activity.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🤖 SOAR &amp; Automation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Automates repetitive response actions such as alert handling, account isolation, and notification.</a:t>
            </a:r>
            <a:endParaRPr sz="11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💾 Backup &amp; Recovery</a:t>
            </a:r>
            <a:br>
              <a:rPr b="1"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Provides trusted copies of data and supports restoration after an incident.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45" name="Google Shape;645;p6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46" name="Google Shape;646;p6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47" name="Google Shape;647;p66"/>
          <p:cNvSpPr txBox="1"/>
          <p:nvPr/>
        </p:nvSpPr>
        <p:spPr>
          <a:xfrm>
            <a:off x="257550" y="517450"/>
            <a:ext cx="8722800" cy="3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Even when an organization has security tools and an incident response plan, several challenges can delay detection, investigation, containment, and recovery of cloud data breaches.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Major Challenges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1. Limited Visibility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Security teams may not have complete visibility across all cloud services, accounts, and resources.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2. Incomplete Logging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Missing, disabled, or short-retention logs can make it difficult to reconstruct an attack.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3. IAM &amp; Permission Issues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Excessive permissions, weak authentication, and misconfigured access controls can increase the impact of a breach.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4. Multi-Cloud Complexity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Managing security across multiple cloud providers and hybrid environments makes monitoring and response more difficult.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5. Alert Overload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Large numbers of security alerts can make it difficult for analysts to identify critical incidents quickly.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7. Evidence Collection Challenges</a:t>
            </a:r>
            <a:b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Collecting and preserving reliable cloud evidence can be difficult because infrastructure and data are distributed across services.</a:t>
            </a:r>
            <a:endParaRPr sz="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Bottom Flow</a:t>
            </a:r>
            <a:endParaRPr b="1"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Limited Visibility → Delayed Detection → Difficult Investigation → Slow Response → Greater Impact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8" name="Google Shape;648;p66"/>
          <p:cNvSpPr txBox="1"/>
          <p:nvPr/>
        </p:nvSpPr>
        <p:spPr>
          <a:xfrm>
            <a:off x="169825" y="202175"/>
            <a:ext cx="6073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Major Challenges in Cloud Incident Response</a:t>
            </a:r>
            <a:endParaRPr sz="15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7"/>
          <p:cNvSpPr txBox="1"/>
          <p:nvPr>
            <p:ph type="title"/>
          </p:nvPr>
        </p:nvSpPr>
        <p:spPr>
          <a:xfrm>
            <a:off x="228600" y="140625"/>
            <a:ext cx="2472600" cy="74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Recommendations</a:t>
            </a:r>
            <a:endParaRPr sz="16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4" name="Google Shape;654;p67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55" name="Google Shape;655;p67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56" name="Google Shape;656;p67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57" name="Google Shape;657;p67"/>
          <p:cNvSpPr txBox="1"/>
          <p:nvPr/>
        </p:nvSpPr>
        <p:spPr>
          <a:xfrm>
            <a:off x="325200" y="457200"/>
            <a:ext cx="8587500" cy="3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Introduction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Organizations can improve their cloud incident response readiness by strengthening preventive controls, monitoring capabilities, response procedures, and recovery processes.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Key Recommendations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1. Strengthen IAM &amp; MFA</a:t>
            </a:r>
            <a:br>
              <a:rPr b="1"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Use least-privilege access, strong authentication, and multi-factor authentication.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2. Enable Comprehensive Logging</a:t>
            </a:r>
            <a:br>
              <a:rPr b="1"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Collect and retain authentication, audit, network, and storage activity logs.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3. Implement Continuous Monitoring</a:t>
            </a:r>
            <a:br>
              <a:rPr b="1"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Monitor cloud environments continuously to identify suspicious activity early.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4. Develop a Cloud Incident Response Plan</a:t>
            </a:r>
            <a:br>
              <a:rPr b="1"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Define clear procedures, responsibilities, escalation paths, and communication processes.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5. Automate Response Actions</a:t>
            </a:r>
            <a:br>
              <a:rPr b="1"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Use SIEM, SOAR, and XDR capabilities to accelerate alert investigation and containment.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63" name="Google Shape;663;p6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64" name="Google Shape;664;p6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Conclusion</a:t>
            </a:r>
            <a:endParaRPr sz="1600"/>
          </a:p>
        </p:txBody>
      </p:sp>
      <p:sp>
        <p:nvSpPr>
          <p:cNvPr id="665" name="Google Shape;665;p6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66" name="Google Shape;666;p68"/>
          <p:cNvSpPr txBox="1"/>
          <p:nvPr/>
        </p:nvSpPr>
        <p:spPr>
          <a:xfrm>
            <a:off x="233100" y="654225"/>
            <a:ext cx="84522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100">
                <a:solidFill>
                  <a:schemeClr val="lt1"/>
                </a:solidFill>
              </a:rPr>
              <a:t>Cloud Security Is Essential:</a:t>
            </a:r>
            <a:r>
              <a:rPr lang="en" sz="1100">
                <a:solidFill>
                  <a:schemeClr val="lt1"/>
                </a:solidFill>
              </a:rPr>
              <a:t> Cloud storage protects valuable data, but misconfigurations and unauthorized access can lead to data breaches.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100">
                <a:solidFill>
                  <a:schemeClr val="lt1"/>
                </a:solidFill>
              </a:rPr>
              <a:t>Readiness Improves Detection:</a:t>
            </a:r>
            <a:r>
              <a:rPr lang="en" sz="1100">
                <a:solidFill>
                  <a:schemeClr val="lt1"/>
                </a:solidFill>
              </a:rPr>
              <a:t> Effective monitoring and logging help organizations identify suspicious activities quickly.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100">
                <a:solidFill>
                  <a:schemeClr val="lt1"/>
                </a:solidFill>
              </a:rPr>
              <a:t>Structured Response Reduces Damage:</a:t>
            </a:r>
            <a:r>
              <a:rPr lang="en" sz="1100">
                <a:solidFill>
                  <a:schemeClr val="lt1"/>
                </a:solidFill>
              </a:rPr>
              <a:t> A clear incident response plan supports investigation, containment, and recovery.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100">
                <a:solidFill>
                  <a:schemeClr val="lt1"/>
                </a:solidFill>
              </a:rPr>
              <a:t>Security Technologies Strengthen Protection:</a:t>
            </a:r>
            <a:r>
              <a:rPr lang="en" sz="1100">
                <a:solidFill>
                  <a:schemeClr val="lt1"/>
                </a:solidFill>
              </a:rPr>
              <a:t> IAM, MFA, SIEM/XDR, and secure backups improve incident response capabilities.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100">
                <a:solidFill>
                  <a:schemeClr val="lt1"/>
                </a:solidFill>
              </a:rPr>
              <a:t>Continuous Improvement Is Necessary:</a:t>
            </a:r>
            <a:r>
              <a:rPr lang="en" sz="1100">
                <a:solidFill>
                  <a:schemeClr val="lt1"/>
                </a:solidFill>
              </a:rPr>
              <a:t> Regular testing, staff training, and lessons learned help organizations become better prepared for future incidents.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sp>
        <p:nvSpPr>
          <p:cNvPr id="672" name="Google Shape;672;p6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73" name="Google Shape;673;p69"/>
          <p:cNvSpPr txBox="1"/>
          <p:nvPr>
            <p:ph type="title"/>
          </p:nvPr>
        </p:nvSpPr>
        <p:spPr>
          <a:xfrm>
            <a:off x="2935050" y="1167575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4" name="Google Shape;674;p6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676" name="Google Shape;676;p69"/>
          <p:cNvSpPr txBox="1"/>
          <p:nvPr/>
        </p:nvSpPr>
        <p:spPr>
          <a:xfrm>
            <a:off x="2351700" y="2629075"/>
            <a:ext cx="4346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Contact 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677" name="Google Shape;677;p69"/>
          <p:cNvSpPr txBox="1"/>
          <p:nvPr/>
        </p:nvSpPr>
        <p:spPr>
          <a:xfrm>
            <a:off x="3401038" y="3128025"/>
            <a:ext cx="22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	Aadityav1@duck.com</a:t>
            </a:r>
            <a:endParaRPr sz="10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